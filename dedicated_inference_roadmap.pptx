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slides/slide14.xml" ContentType="application/vnd.openxmlformats-officedocument.presentationml.slide+xml"/>
  <Override PartName="/ppt/comments/modernComment_111_B6A555AE.xml" ContentType="application/vnd.ms-powerpoint.comments+xml"/>
  <Override PartName="/ppt/authors.xml" ContentType="application/vnd.ms-powerpoint.author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72" r:id="rId3"/>
    <p:sldId id="258" r:id="rId4"/>
    <p:sldId id="259" r:id="rId5"/>
    <p:sldId id="262" r:id="rId6"/>
    <p:sldId id="260" r:id="rId7"/>
    <p:sldId id="261" r:id="rId8"/>
    <p:sldId id="263" r:id="rId9"/>
    <p:sldId id="265" r:id="rId10"/>
    <p:sldId id="266" r:id="rId11"/>
    <p:sldId id="267" r:id="rId12"/>
    <p:sldId id="268" r:id="rId13"/>
    <p:sldId id="270" r:id="rId14"/>
    <p:sldId id="273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7D9492B-C31F-4475-947D-5383D141360D}" name="Huong Hoang Thi Lan" initials="HL" userId="S::huonghtl5@fpt.com::8eb6a9a1-01c3-462e-9af6-df7b162287c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ECF776-325D-BD60-D0A4-4D5DB8C1BD20}" v="8" dt="2026-06-05T04:10:24.118"/>
    <p1510:client id="{71FEFF2D-5520-3F0A-5F7F-4488BDA6A544}" v="2" dt="2026-06-04T10:26:20.262"/>
    <p1510:client id="{9E799971-F40D-16DC-747A-19DAFBF407C5}" v="705" dt="2026-06-04T09:57:17.483"/>
    <p1510:client id="{BE130012-DA70-0788-FD61-A57D735B491A}" v="11" dt="2026-06-04T10:12:34.6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ong Hoang Thi Lan" userId="S::huonghtl5@fpt.com::8eb6a9a1-01c3-462e-9af6-df7b162287c3" providerId="AD" clId="Web-{9E799971-F40D-16DC-747A-19DAFBF407C5}"/>
    <pc:docChg chg="delSld modSld sldOrd">
      <pc:chgData name="Huong Hoang Thi Lan" userId="S::huonghtl5@fpt.com::8eb6a9a1-01c3-462e-9af6-df7b162287c3" providerId="AD" clId="Web-{9E799971-F40D-16DC-747A-19DAFBF407C5}" dt="2026-06-04T09:57:17.483" v="606"/>
      <pc:docMkLst>
        <pc:docMk/>
      </pc:docMkLst>
      <pc:sldChg chg="delSp modSp del">
        <pc:chgData name="Huong Hoang Thi Lan" userId="S::huonghtl5@fpt.com::8eb6a9a1-01c3-462e-9af6-df7b162287c3" providerId="AD" clId="Web-{9E799971-F40D-16DC-747A-19DAFBF407C5}" dt="2026-06-04T08:13:52.113" v="33"/>
        <pc:sldMkLst>
          <pc:docMk/>
          <pc:sldMk cId="0" sldId="257"/>
        </pc:sldMkLst>
        <pc:spChg chg="del">
          <ac:chgData name="Huong Hoang Thi Lan" userId="S::huonghtl5@fpt.com::8eb6a9a1-01c3-462e-9af6-df7b162287c3" providerId="AD" clId="Web-{9E799971-F40D-16DC-747A-19DAFBF407C5}" dt="2026-06-04T08:13:01.875" v="0"/>
          <ac:spMkLst>
            <pc:docMk/>
            <pc:sldMk cId="0" sldId="257"/>
            <ac:spMk id="2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13:13.392" v="4" actId="20577"/>
          <ac:spMkLst>
            <pc:docMk/>
            <pc:sldMk cId="0" sldId="257"/>
            <ac:spMk id="3" creationId="{00000000-0000-0000-0000-000000000000}"/>
          </ac:spMkLst>
        </pc:spChg>
        <pc:spChg chg="del">
          <ac:chgData name="Huong Hoang Thi Lan" userId="S::huonghtl5@fpt.com::8eb6a9a1-01c3-462e-9af6-df7b162287c3" providerId="AD" clId="Web-{9E799971-F40D-16DC-747A-19DAFBF407C5}" dt="2026-06-04T08:13:09.313" v="3"/>
          <ac:spMkLst>
            <pc:docMk/>
            <pc:sldMk cId="0" sldId="257"/>
            <ac:spMk id="4" creationId="{00000000-0000-0000-0000-000000000000}"/>
          </ac:spMkLst>
        </pc:spChg>
        <pc:spChg chg="del">
          <ac:chgData name="Huong Hoang Thi Lan" userId="S::huonghtl5@fpt.com::8eb6a9a1-01c3-462e-9af6-df7b162287c3" providerId="AD" clId="Web-{9E799971-F40D-16DC-747A-19DAFBF407C5}" dt="2026-06-04T08:13:09.313" v="2"/>
          <ac:spMkLst>
            <pc:docMk/>
            <pc:sldMk cId="0" sldId="257"/>
            <ac:spMk id="5" creationId="{00000000-0000-0000-0000-000000000000}"/>
          </ac:spMkLst>
        </pc:spChg>
        <pc:spChg chg="del">
          <ac:chgData name="Huong Hoang Thi Lan" userId="S::huonghtl5@fpt.com::8eb6a9a1-01c3-462e-9af6-df7b162287c3" providerId="AD" clId="Web-{9E799971-F40D-16DC-747A-19DAFBF407C5}" dt="2026-06-04T08:13:09.313" v="1"/>
          <ac:spMkLst>
            <pc:docMk/>
            <pc:sldMk cId="0" sldId="257"/>
            <ac:spMk id="6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13:47.019" v="15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13:47.034" v="16" actId="1076"/>
          <ac:spMkLst>
            <pc:docMk/>
            <pc:sldMk cId="0" sldId="257"/>
            <ac:spMk id="8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13:47.034" v="17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13:47.050" v="18" actId="107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13:47.050" v="19" actId="107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13:47.066" v="20" actId="107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13:47.081" v="21" actId="107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13:47.081" v="22" actId="107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13:47.081" v="23" actId="107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13:47.097" v="24" actId="1076"/>
          <ac:spMkLst>
            <pc:docMk/>
            <pc:sldMk cId="0" sldId="257"/>
            <ac:spMk id="16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13:47.113" v="25" actId="1076"/>
          <ac:spMkLst>
            <pc:docMk/>
            <pc:sldMk cId="0" sldId="257"/>
            <ac:spMk id="17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13:47.113" v="26" actId="107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13:47.128" v="27" actId="1076"/>
          <ac:spMkLst>
            <pc:docMk/>
            <pc:sldMk cId="0" sldId="257"/>
            <ac:spMk id="19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13:47.128" v="28" actId="1076"/>
          <ac:spMkLst>
            <pc:docMk/>
            <pc:sldMk cId="0" sldId="257"/>
            <ac:spMk id="20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13:47.144" v="29" actId="1076"/>
          <ac:spMkLst>
            <pc:docMk/>
            <pc:sldMk cId="0" sldId="257"/>
            <ac:spMk id="21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13:47.144" v="30" actId="1076"/>
          <ac:spMkLst>
            <pc:docMk/>
            <pc:sldMk cId="0" sldId="257"/>
            <ac:spMk id="22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13:47.159" v="31" actId="1076"/>
          <ac:spMkLst>
            <pc:docMk/>
            <pc:sldMk cId="0" sldId="257"/>
            <ac:spMk id="23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13:47.159" v="32" actId="1076"/>
          <ac:spMkLst>
            <pc:docMk/>
            <pc:sldMk cId="0" sldId="257"/>
            <ac:spMk id="24" creationId="{00000000-0000-0000-0000-000000000000}"/>
          </ac:spMkLst>
        </pc:spChg>
      </pc:sldChg>
      <pc:sldChg chg="addSp delSp modSp">
        <pc:chgData name="Huong Hoang Thi Lan" userId="S::huonghtl5@fpt.com::8eb6a9a1-01c3-462e-9af6-df7b162287c3" providerId="AD" clId="Web-{9E799971-F40D-16DC-747A-19DAFBF407C5}" dt="2026-06-04T08:34:13.275" v="290" actId="20577"/>
        <pc:sldMkLst>
          <pc:docMk/>
          <pc:sldMk cId="0" sldId="258"/>
        </pc:sldMkLst>
        <pc:spChg chg="mod">
          <ac:chgData name="Huong Hoang Thi Lan" userId="S::huonghtl5@fpt.com::8eb6a9a1-01c3-462e-9af6-df7b162287c3" providerId="AD" clId="Web-{9E799971-F40D-16DC-747A-19DAFBF407C5}" dt="2026-06-04T08:34:13.275" v="290" actId="20577"/>
          <ac:spMkLst>
            <pc:docMk/>
            <pc:sldMk cId="0" sldId="258"/>
            <ac:spMk id="3" creationId="{00000000-0000-0000-0000-000000000000}"/>
          </ac:spMkLst>
        </pc:spChg>
        <pc:spChg chg="del mod">
          <ac:chgData name="Huong Hoang Thi Lan" userId="S::huonghtl5@fpt.com::8eb6a9a1-01c3-462e-9af6-df7b162287c3" providerId="AD" clId="Web-{9E799971-F40D-16DC-747A-19DAFBF407C5}" dt="2026-06-04T08:33:33.335" v="272"/>
          <ac:spMkLst>
            <pc:docMk/>
            <pc:sldMk cId="0" sldId="258"/>
            <ac:spMk id="12" creationId="{00000000-0000-0000-0000-000000000000}"/>
          </ac:spMkLst>
        </pc:spChg>
        <pc:spChg chg="del mod">
          <ac:chgData name="Huong Hoang Thi Lan" userId="S::huonghtl5@fpt.com::8eb6a9a1-01c3-462e-9af6-df7b162287c3" providerId="AD" clId="Web-{9E799971-F40D-16DC-747A-19DAFBF407C5}" dt="2026-06-04T08:33:33.335" v="271"/>
          <ac:spMkLst>
            <pc:docMk/>
            <pc:sldMk cId="0" sldId="258"/>
            <ac:spMk id="13" creationId="{00000000-0000-0000-0000-000000000000}"/>
          </ac:spMkLst>
        </pc:spChg>
        <pc:spChg chg="del mod">
          <ac:chgData name="Huong Hoang Thi Lan" userId="S::huonghtl5@fpt.com::8eb6a9a1-01c3-462e-9af6-df7b162287c3" providerId="AD" clId="Web-{9E799971-F40D-16DC-747A-19DAFBF407C5}" dt="2026-06-04T08:33:33.335" v="270"/>
          <ac:spMkLst>
            <pc:docMk/>
            <pc:sldMk cId="0" sldId="258"/>
            <ac:spMk id="14" creationId="{00000000-0000-0000-0000-000000000000}"/>
          </ac:spMkLst>
        </pc:spChg>
        <pc:spChg chg="del mod">
          <ac:chgData name="Huong Hoang Thi Lan" userId="S::huonghtl5@fpt.com::8eb6a9a1-01c3-462e-9af6-df7b162287c3" providerId="AD" clId="Web-{9E799971-F40D-16DC-747A-19DAFBF407C5}" dt="2026-06-04T08:33:33.335" v="269"/>
          <ac:spMkLst>
            <pc:docMk/>
            <pc:sldMk cId="0" sldId="258"/>
            <ac:spMk id="15" creationId="{00000000-0000-0000-0000-000000000000}"/>
          </ac:spMkLst>
        </pc:spChg>
        <pc:spChg chg="del mod">
          <ac:chgData name="Huong Hoang Thi Lan" userId="S::huonghtl5@fpt.com::8eb6a9a1-01c3-462e-9af6-df7b162287c3" providerId="AD" clId="Web-{9E799971-F40D-16DC-747A-19DAFBF407C5}" dt="2026-06-04T08:33:33.335" v="268"/>
          <ac:spMkLst>
            <pc:docMk/>
            <pc:sldMk cId="0" sldId="258"/>
            <ac:spMk id="16" creationId="{00000000-0000-0000-0000-000000000000}"/>
          </ac:spMkLst>
        </pc:spChg>
        <pc:spChg chg="del mod">
          <ac:chgData name="Huong Hoang Thi Lan" userId="S::huonghtl5@fpt.com::8eb6a9a1-01c3-462e-9af6-df7b162287c3" providerId="AD" clId="Web-{9E799971-F40D-16DC-747A-19DAFBF407C5}" dt="2026-06-04T08:33:33.335" v="267"/>
          <ac:spMkLst>
            <pc:docMk/>
            <pc:sldMk cId="0" sldId="258"/>
            <ac:spMk id="17" creationId="{00000000-0000-0000-0000-000000000000}"/>
          </ac:spMkLst>
        </pc:spChg>
        <pc:spChg chg="del mod">
          <ac:chgData name="Huong Hoang Thi Lan" userId="S::huonghtl5@fpt.com::8eb6a9a1-01c3-462e-9af6-df7b162287c3" providerId="AD" clId="Web-{9E799971-F40D-16DC-747A-19DAFBF407C5}" dt="2026-06-04T08:33:33.335" v="266"/>
          <ac:spMkLst>
            <pc:docMk/>
            <pc:sldMk cId="0" sldId="258"/>
            <ac:spMk id="18" creationId="{00000000-0000-0000-0000-000000000000}"/>
          </ac:spMkLst>
        </pc:spChg>
        <pc:spChg chg="del mod">
          <ac:chgData name="Huong Hoang Thi Lan" userId="S::huonghtl5@fpt.com::8eb6a9a1-01c3-462e-9af6-df7b162287c3" providerId="AD" clId="Web-{9E799971-F40D-16DC-747A-19DAFBF407C5}" dt="2026-06-04T08:33:33.335" v="265"/>
          <ac:spMkLst>
            <pc:docMk/>
            <pc:sldMk cId="0" sldId="258"/>
            <ac:spMk id="19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1:55.141" v="206" actId="1076"/>
          <ac:spMkLst>
            <pc:docMk/>
            <pc:sldMk cId="0" sldId="258"/>
            <ac:spMk id="20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1:55.156" v="207" actId="1076"/>
          <ac:spMkLst>
            <pc:docMk/>
            <pc:sldMk cId="0" sldId="258"/>
            <ac:spMk id="21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1:55.172" v="208" actId="1076"/>
          <ac:spMkLst>
            <pc:docMk/>
            <pc:sldMk cId="0" sldId="258"/>
            <ac:spMk id="22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1:55.188" v="209" actId="1076"/>
          <ac:spMkLst>
            <pc:docMk/>
            <pc:sldMk cId="0" sldId="258"/>
            <ac:spMk id="23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1:55.219" v="210" actId="1076"/>
          <ac:spMkLst>
            <pc:docMk/>
            <pc:sldMk cId="0" sldId="258"/>
            <ac:spMk id="24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1:55.219" v="211" actId="1076"/>
          <ac:spMkLst>
            <pc:docMk/>
            <pc:sldMk cId="0" sldId="258"/>
            <ac:spMk id="25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1:55.250" v="212" actId="1076"/>
          <ac:spMkLst>
            <pc:docMk/>
            <pc:sldMk cId="0" sldId="258"/>
            <ac:spMk id="26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1:55.266" v="213" actId="1076"/>
          <ac:spMkLst>
            <pc:docMk/>
            <pc:sldMk cId="0" sldId="258"/>
            <ac:spMk id="27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3:49.133" v="273" actId="1076"/>
          <ac:spMkLst>
            <pc:docMk/>
            <pc:sldMk cId="0" sldId="258"/>
            <ac:spMk id="28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3:49.149" v="274" actId="1076"/>
          <ac:spMkLst>
            <pc:docMk/>
            <pc:sldMk cId="0" sldId="258"/>
            <ac:spMk id="29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3:49.164" v="275" actId="1076"/>
          <ac:spMkLst>
            <pc:docMk/>
            <pc:sldMk cId="0" sldId="258"/>
            <ac:spMk id="30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3:49.195" v="276" actId="1076"/>
          <ac:spMkLst>
            <pc:docMk/>
            <pc:sldMk cId="0" sldId="258"/>
            <ac:spMk id="31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3:49.211" v="277" actId="1076"/>
          <ac:spMkLst>
            <pc:docMk/>
            <pc:sldMk cId="0" sldId="258"/>
            <ac:spMk id="32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3:49.227" v="278" actId="1076"/>
          <ac:spMkLst>
            <pc:docMk/>
            <pc:sldMk cId="0" sldId="258"/>
            <ac:spMk id="33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3:49.242" v="279" actId="1076"/>
          <ac:spMkLst>
            <pc:docMk/>
            <pc:sldMk cId="0" sldId="258"/>
            <ac:spMk id="34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3:49.274" v="280" actId="1076"/>
          <ac:spMkLst>
            <pc:docMk/>
            <pc:sldMk cId="0" sldId="258"/>
            <ac:spMk id="35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1:55.281" v="214" actId="1076"/>
          <ac:spMkLst>
            <pc:docMk/>
            <pc:sldMk cId="0" sldId="258"/>
            <ac:spMk id="36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1:55.297" v="215" actId="1076"/>
          <ac:spMkLst>
            <pc:docMk/>
            <pc:sldMk cId="0" sldId="258"/>
            <ac:spMk id="37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1:55.313" v="216" actId="1076"/>
          <ac:spMkLst>
            <pc:docMk/>
            <pc:sldMk cId="0" sldId="258"/>
            <ac:spMk id="38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1:55.328" v="217" actId="1076"/>
          <ac:spMkLst>
            <pc:docMk/>
            <pc:sldMk cId="0" sldId="258"/>
            <ac:spMk id="39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1:55.359" v="218" actId="1076"/>
          <ac:spMkLst>
            <pc:docMk/>
            <pc:sldMk cId="0" sldId="258"/>
            <ac:spMk id="40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1:55.375" v="219" actId="1076"/>
          <ac:spMkLst>
            <pc:docMk/>
            <pc:sldMk cId="0" sldId="258"/>
            <ac:spMk id="41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1:55.391" v="220" actId="1076"/>
          <ac:spMkLst>
            <pc:docMk/>
            <pc:sldMk cId="0" sldId="258"/>
            <ac:spMk id="42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1:55.406" v="221" actId="1076"/>
          <ac:spMkLst>
            <pc:docMk/>
            <pc:sldMk cId="0" sldId="258"/>
            <ac:spMk id="43" creationId="{00000000-0000-0000-0000-000000000000}"/>
          </ac:spMkLst>
        </pc:spChg>
        <pc:spChg chg="add mod">
          <ac:chgData name="Huong Hoang Thi Lan" userId="S::huonghtl5@fpt.com::8eb6a9a1-01c3-462e-9af6-df7b162287c3" providerId="AD" clId="Web-{9E799971-F40D-16DC-747A-19DAFBF407C5}" dt="2026-06-04T08:33:55.930" v="281" actId="1076"/>
          <ac:spMkLst>
            <pc:docMk/>
            <pc:sldMk cId="0" sldId="258"/>
            <ac:spMk id="44" creationId="{4F29ACD3-13FB-8CF9-A841-DEBDAE083282}"/>
          </ac:spMkLst>
        </pc:spChg>
        <pc:spChg chg="add mod">
          <ac:chgData name="Huong Hoang Thi Lan" userId="S::huonghtl5@fpt.com::8eb6a9a1-01c3-462e-9af6-df7b162287c3" providerId="AD" clId="Web-{9E799971-F40D-16DC-747A-19DAFBF407C5}" dt="2026-06-04T08:33:55.946" v="282" actId="1076"/>
          <ac:spMkLst>
            <pc:docMk/>
            <pc:sldMk cId="0" sldId="258"/>
            <ac:spMk id="45" creationId="{3093BA7F-797D-4383-AB97-F2C9FB80B2CE}"/>
          </ac:spMkLst>
        </pc:spChg>
        <pc:spChg chg="add mod">
          <ac:chgData name="Huong Hoang Thi Lan" userId="S::huonghtl5@fpt.com::8eb6a9a1-01c3-462e-9af6-df7b162287c3" providerId="AD" clId="Web-{9E799971-F40D-16DC-747A-19DAFBF407C5}" dt="2026-06-04T08:33:55.977" v="283" actId="1076"/>
          <ac:spMkLst>
            <pc:docMk/>
            <pc:sldMk cId="0" sldId="258"/>
            <ac:spMk id="46" creationId="{763BCB53-6C31-EBF8-156C-D622E87A0274}"/>
          </ac:spMkLst>
        </pc:spChg>
        <pc:spChg chg="add mod">
          <ac:chgData name="Huong Hoang Thi Lan" userId="S::huonghtl5@fpt.com::8eb6a9a1-01c3-462e-9af6-df7b162287c3" providerId="AD" clId="Web-{9E799971-F40D-16DC-747A-19DAFBF407C5}" dt="2026-06-04T08:33:55.993" v="284" actId="1076"/>
          <ac:spMkLst>
            <pc:docMk/>
            <pc:sldMk cId="0" sldId="258"/>
            <ac:spMk id="47" creationId="{F2A469DB-2D6D-7F1D-76F9-C7F7D837D19D}"/>
          </ac:spMkLst>
        </pc:spChg>
        <pc:spChg chg="add mod">
          <ac:chgData name="Huong Hoang Thi Lan" userId="S::huonghtl5@fpt.com::8eb6a9a1-01c3-462e-9af6-df7b162287c3" providerId="AD" clId="Web-{9E799971-F40D-16DC-747A-19DAFBF407C5}" dt="2026-06-04T08:33:56.008" v="285" actId="1076"/>
          <ac:spMkLst>
            <pc:docMk/>
            <pc:sldMk cId="0" sldId="258"/>
            <ac:spMk id="48" creationId="{34D96C86-1763-0125-783F-C2099B464483}"/>
          </ac:spMkLst>
        </pc:spChg>
        <pc:spChg chg="add mod">
          <ac:chgData name="Huong Hoang Thi Lan" userId="S::huonghtl5@fpt.com::8eb6a9a1-01c3-462e-9af6-df7b162287c3" providerId="AD" clId="Web-{9E799971-F40D-16DC-747A-19DAFBF407C5}" dt="2026-06-04T08:33:56.024" v="286" actId="1076"/>
          <ac:spMkLst>
            <pc:docMk/>
            <pc:sldMk cId="0" sldId="258"/>
            <ac:spMk id="49" creationId="{C8A51056-E1B7-D4FD-BD70-F056E775FCE7}"/>
          </ac:spMkLst>
        </pc:spChg>
        <pc:spChg chg="add mod">
          <ac:chgData name="Huong Hoang Thi Lan" userId="S::huonghtl5@fpt.com::8eb6a9a1-01c3-462e-9af6-df7b162287c3" providerId="AD" clId="Web-{9E799971-F40D-16DC-747A-19DAFBF407C5}" dt="2026-06-04T08:33:56.055" v="287" actId="1076"/>
          <ac:spMkLst>
            <pc:docMk/>
            <pc:sldMk cId="0" sldId="258"/>
            <ac:spMk id="50" creationId="{2C215140-5483-AD61-8CA3-3D0CF444C9DF}"/>
          </ac:spMkLst>
        </pc:spChg>
        <pc:spChg chg="add mod">
          <ac:chgData name="Huong Hoang Thi Lan" userId="S::huonghtl5@fpt.com::8eb6a9a1-01c3-462e-9af6-df7b162287c3" providerId="AD" clId="Web-{9E799971-F40D-16DC-747A-19DAFBF407C5}" dt="2026-06-04T08:33:56.071" v="288" actId="1076"/>
          <ac:spMkLst>
            <pc:docMk/>
            <pc:sldMk cId="0" sldId="258"/>
            <ac:spMk id="51" creationId="{EB931AF5-95A0-8C68-2CE1-EFB4698D03AE}"/>
          </ac:spMkLst>
        </pc:spChg>
      </pc:sldChg>
      <pc:sldChg chg="modSp">
        <pc:chgData name="Huong Hoang Thi Lan" userId="S::huonghtl5@fpt.com::8eb6a9a1-01c3-462e-9af6-df7b162287c3" providerId="AD" clId="Web-{9E799971-F40D-16DC-747A-19DAFBF407C5}" dt="2026-06-04T08:34:18.510" v="291" actId="20577"/>
        <pc:sldMkLst>
          <pc:docMk/>
          <pc:sldMk cId="0" sldId="260"/>
        </pc:sldMkLst>
        <pc:spChg chg="mod">
          <ac:chgData name="Huong Hoang Thi Lan" userId="S::huonghtl5@fpt.com::8eb6a9a1-01c3-462e-9af6-df7b162287c3" providerId="AD" clId="Web-{9E799971-F40D-16DC-747A-19DAFBF407C5}" dt="2026-06-04T08:34:18.510" v="291" actId="20577"/>
          <ac:spMkLst>
            <pc:docMk/>
            <pc:sldMk cId="0" sldId="260"/>
            <ac:spMk id="4" creationId="{00000000-0000-0000-0000-000000000000}"/>
          </ac:spMkLst>
        </pc:spChg>
      </pc:sldChg>
      <pc:sldChg chg="modSp mod modShow">
        <pc:chgData name="Huong Hoang Thi Lan" userId="S::huonghtl5@fpt.com::8eb6a9a1-01c3-462e-9af6-df7b162287c3" providerId="AD" clId="Web-{9E799971-F40D-16DC-747A-19DAFBF407C5}" dt="2026-06-04T08:22:20.039" v="90" actId="20577"/>
        <pc:sldMkLst>
          <pc:docMk/>
          <pc:sldMk cId="0" sldId="261"/>
        </pc:sldMkLst>
        <pc:spChg chg="mod">
          <ac:chgData name="Huong Hoang Thi Lan" userId="S::huonghtl5@fpt.com::8eb6a9a1-01c3-462e-9af6-df7b162287c3" providerId="AD" clId="Web-{9E799971-F40D-16DC-747A-19DAFBF407C5}" dt="2026-06-04T08:22:20.039" v="90" actId="20577"/>
          <ac:spMkLst>
            <pc:docMk/>
            <pc:sldMk cId="0" sldId="261"/>
            <ac:spMk id="4" creationId="{00000000-0000-0000-0000-000000000000}"/>
          </ac:spMkLst>
        </pc:spChg>
      </pc:sldChg>
      <pc:sldChg chg="modSp ord">
        <pc:chgData name="Huong Hoang Thi Lan" userId="S::huonghtl5@fpt.com::8eb6a9a1-01c3-462e-9af6-df7b162287c3" providerId="AD" clId="Web-{9E799971-F40D-16DC-747A-19DAFBF407C5}" dt="2026-06-04T08:35:14.436" v="307" actId="20577"/>
        <pc:sldMkLst>
          <pc:docMk/>
          <pc:sldMk cId="0" sldId="262"/>
        </pc:sldMkLst>
        <pc:spChg chg="mod">
          <ac:chgData name="Huong Hoang Thi Lan" userId="S::huonghtl5@fpt.com::8eb6a9a1-01c3-462e-9af6-df7b162287c3" providerId="AD" clId="Web-{9E799971-F40D-16DC-747A-19DAFBF407C5}" dt="2026-06-04T08:34:25.354" v="294" actId="20577"/>
          <ac:spMkLst>
            <pc:docMk/>
            <pc:sldMk cId="0" sldId="262"/>
            <ac:spMk id="4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5:14.436" v="307" actId="20577"/>
          <ac:spMkLst>
            <pc:docMk/>
            <pc:sldMk cId="0" sldId="262"/>
            <ac:spMk id="5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27:19.247" v="155" actId="20577"/>
          <ac:spMkLst>
            <pc:docMk/>
            <pc:sldMk cId="0" sldId="262"/>
            <ac:spMk id="15" creationId="{00000000-0000-0000-0000-000000000000}"/>
          </ac:spMkLst>
        </pc:spChg>
      </pc:sldChg>
      <pc:sldChg chg="delSp modSp">
        <pc:chgData name="Huong Hoang Thi Lan" userId="S::huonghtl5@fpt.com::8eb6a9a1-01c3-462e-9af6-df7b162287c3" providerId="AD" clId="Web-{9E799971-F40D-16DC-747A-19DAFBF407C5}" dt="2026-06-04T08:37:26.945" v="509" actId="1076"/>
        <pc:sldMkLst>
          <pc:docMk/>
          <pc:sldMk cId="0" sldId="263"/>
        </pc:sldMkLst>
        <pc:spChg chg="del">
          <ac:chgData name="Huong Hoang Thi Lan" userId="S::huonghtl5@fpt.com::8eb6a9a1-01c3-462e-9af6-df7b162287c3" providerId="AD" clId="Web-{9E799971-F40D-16DC-747A-19DAFBF407C5}" dt="2026-06-04T08:28:11.422" v="156"/>
          <ac:spMkLst>
            <pc:docMk/>
            <pc:sldMk cId="0" sldId="263"/>
            <ac:spMk id="2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28:55.566" v="204" actId="20577"/>
          <ac:spMkLst>
            <pc:docMk/>
            <pc:sldMk cId="0" sldId="263"/>
            <ac:spMk id="3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5.523" v="440" actId="1076"/>
          <ac:spMkLst>
            <pc:docMk/>
            <pc:sldMk cId="0" sldId="263"/>
            <ac:spMk id="4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5.554" v="441" actId="1076"/>
          <ac:spMkLst>
            <pc:docMk/>
            <pc:sldMk cId="0" sldId="263"/>
            <ac:spMk id="5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5.570" v="442" actId="1076"/>
          <ac:spMkLst>
            <pc:docMk/>
            <pc:sldMk cId="0" sldId="263"/>
            <ac:spMk id="6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5.585" v="443" actId="1076"/>
          <ac:spMkLst>
            <pc:docMk/>
            <pc:sldMk cId="0" sldId="263"/>
            <ac:spMk id="7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5.601" v="444" actId="1076"/>
          <ac:spMkLst>
            <pc:docMk/>
            <pc:sldMk cId="0" sldId="263"/>
            <ac:spMk id="8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5.632" v="445" actId="1076"/>
          <ac:spMkLst>
            <pc:docMk/>
            <pc:sldMk cId="0" sldId="263"/>
            <ac:spMk id="9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5.648" v="446" actId="1076"/>
          <ac:spMkLst>
            <pc:docMk/>
            <pc:sldMk cId="0" sldId="263"/>
            <ac:spMk id="10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5.663" v="447" actId="1076"/>
          <ac:spMkLst>
            <pc:docMk/>
            <pc:sldMk cId="0" sldId="263"/>
            <ac:spMk id="11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5.679" v="448" actId="1076"/>
          <ac:spMkLst>
            <pc:docMk/>
            <pc:sldMk cId="0" sldId="263"/>
            <ac:spMk id="12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5.710" v="449" actId="1076"/>
          <ac:spMkLst>
            <pc:docMk/>
            <pc:sldMk cId="0" sldId="263"/>
            <ac:spMk id="13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5.726" v="450" actId="1076"/>
          <ac:spMkLst>
            <pc:docMk/>
            <pc:sldMk cId="0" sldId="263"/>
            <ac:spMk id="14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5.742" v="451" actId="1076"/>
          <ac:spMkLst>
            <pc:docMk/>
            <pc:sldMk cId="0" sldId="263"/>
            <ac:spMk id="15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5.773" v="452" actId="1076"/>
          <ac:spMkLst>
            <pc:docMk/>
            <pc:sldMk cId="0" sldId="263"/>
            <ac:spMk id="16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5.788" v="453" actId="1076"/>
          <ac:spMkLst>
            <pc:docMk/>
            <pc:sldMk cId="0" sldId="263"/>
            <ac:spMk id="17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5.804" v="454" actId="1076"/>
          <ac:spMkLst>
            <pc:docMk/>
            <pc:sldMk cId="0" sldId="263"/>
            <ac:spMk id="18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5.835" v="455" actId="1076"/>
          <ac:spMkLst>
            <pc:docMk/>
            <pc:sldMk cId="0" sldId="263"/>
            <ac:spMk id="19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5.851" v="456" actId="1076"/>
          <ac:spMkLst>
            <pc:docMk/>
            <pc:sldMk cId="0" sldId="263"/>
            <ac:spMk id="20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5.867" v="457" actId="1076"/>
          <ac:spMkLst>
            <pc:docMk/>
            <pc:sldMk cId="0" sldId="263"/>
            <ac:spMk id="21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5.882" v="458" actId="1076"/>
          <ac:spMkLst>
            <pc:docMk/>
            <pc:sldMk cId="0" sldId="263"/>
            <ac:spMk id="22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5.913" v="459" actId="1076"/>
          <ac:spMkLst>
            <pc:docMk/>
            <pc:sldMk cId="0" sldId="263"/>
            <ac:spMk id="23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5.929" v="460" actId="1076"/>
          <ac:spMkLst>
            <pc:docMk/>
            <pc:sldMk cId="0" sldId="263"/>
            <ac:spMk id="24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5.945" v="461" actId="1076"/>
          <ac:spMkLst>
            <pc:docMk/>
            <pc:sldMk cId="0" sldId="263"/>
            <ac:spMk id="25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5.976" v="462" actId="1076"/>
          <ac:spMkLst>
            <pc:docMk/>
            <pc:sldMk cId="0" sldId="263"/>
            <ac:spMk id="26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5.992" v="463" actId="1076"/>
          <ac:spMkLst>
            <pc:docMk/>
            <pc:sldMk cId="0" sldId="263"/>
            <ac:spMk id="27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6.007" v="464" actId="1076"/>
          <ac:spMkLst>
            <pc:docMk/>
            <pc:sldMk cId="0" sldId="263"/>
            <ac:spMk id="28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6.038" v="465" actId="1076"/>
          <ac:spMkLst>
            <pc:docMk/>
            <pc:sldMk cId="0" sldId="263"/>
            <ac:spMk id="29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6.054" v="466" actId="1076"/>
          <ac:spMkLst>
            <pc:docMk/>
            <pc:sldMk cId="0" sldId="263"/>
            <ac:spMk id="30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6.070" v="467" actId="1076"/>
          <ac:spMkLst>
            <pc:docMk/>
            <pc:sldMk cId="0" sldId="263"/>
            <ac:spMk id="31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6.085" v="468" actId="1076"/>
          <ac:spMkLst>
            <pc:docMk/>
            <pc:sldMk cId="0" sldId="263"/>
            <ac:spMk id="32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6.117" v="469" actId="1076"/>
          <ac:spMkLst>
            <pc:docMk/>
            <pc:sldMk cId="0" sldId="263"/>
            <ac:spMk id="33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6.132" v="470" actId="1076"/>
          <ac:spMkLst>
            <pc:docMk/>
            <pc:sldMk cId="0" sldId="263"/>
            <ac:spMk id="34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6.148" v="471" actId="1076"/>
          <ac:spMkLst>
            <pc:docMk/>
            <pc:sldMk cId="0" sldId="263"/>
            <ac:spMk id="35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6.163" v="472" actId="1076"/>
          <ac:spMkLst>
            <pc:docMk/>
            <pc:sldMk cId="0" sldId="263"/>
            <ac:spMk id="36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6.195" v="473" actId="1076"/>
          <ac:spMkLst>
            <pc:docMk/>
            <pc:sldMk cId="0" sldId="263"/>
            <ac:spMk id="37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6.210" v="474" actId="1076"/>
          <ac:spMkLst>
            <pc:docMk/>
            <pc:sldMk cId="0" sldId="263"/>
            <ac:spMk id="38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6.226" v="475" actId="1076"/>
          <ac:spMkLst>
            <pc:docMk/>
            <pc:sldMk cId="0" sldId="263"/>
            <ac:spMk id="39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6.257" v="476" actId="1076"/>
          <ac:spMkLst>
            <pc:docMk/>
            <pc:sldMk cId="0" sldId="263"/>
            <ac:spMk id="40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6.273" v="477" actId="1076"/>
          <ac:spMkLst>
            <pc:docMk/>
            <pc:sldMk cId="0" sldId="263"/>
            <ac:spMk id="41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6.289" v="478" actId="1076"/>
          <ac:spMkLst>
            <pc:docMk/>
            <pc:sldMk cId="0" sldId="263"/>
            <ac:spMk id="42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6.320" v="479" actId="1076"/>
          <ac:spMkLst>
            <pc:docMk/>
            <pc:sldMk cId="0" sldId="263"/>
            <ac:spMk id="43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6.335" v="480" actId="1076"/>
          <ac:spMkLst>
            <pc:docMk/>
            <pc:sldMk cId="0" sldId="263"/>
            <ac:spMk id="44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6.367" v="481" actId="1076"/>
          <ac:spMkLst>
            <pc:docMk/>
            <pc:sldMk cId="0" sldId="263"/>
            <ac:spMk id="45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6.398" v="482" actId="1076"/>
          <ac:spMkLst>
            <pc:docMk/>
            <pc:sldMk cId="0" sldId="263"/>
            <ac:spMk id="46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6.414" v="483" actId="1076"/>
          <ac:spMkLst>
            <pc:docMk/>
            <pc:sldMk cId="0" sldId="263"/>
            <ac:spMk id="47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6.429" v="484" actId="1076"/>
          <ac:spMkLst>
            <pc:docMk/>
            <pc:sldMk cId="0" sldId="263"/>
            <ac:spMk id="48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6.460" v="485" actId="1076"/>
          <ac:spMkLst>
            <pc:docMk/>
            <pc:sldMk cId="0" sldId="263"/>
            <ac:spMk id="49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6.476" v="486" actId="1076"/>
          <ac:spMkLst>
            <pc:docMk/>
            <pc:sldMk cId="0" sldId="263"/>
            <ac:spMk id="50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6.507" v="487" actId="1076"/>
          <ac:spMkLst>
            <pc:docMk/>
            <pc:sldMk cId="0" sldId="263"/>
            <ac:spMk id="51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6.523" v="488" actId="1076"/>
          <ac:spMkLst>
            <pc:docMk/>
            <pc:sldMk cId="0" sldId="263"/>
            <ac:spMk id="52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6.539" v="489" actId="1076"/>
          <ac:spMkLst>
            <pc:docMk/>
            <pc:sldMk cId="0" sldId="263"/>
            <ac:spMk id="53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6.554" v="490" actId="1076"/>
          <ac:spMkLst>
            <pc:docMk/>
            <pc:sldMk cId="0" sldId="263"/>
            <ac:spMk id="54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6.585" v="491" actId="1076"/>
          <ac:spMkLst>
            <pc:docMk/>
            <pc:sldMk cId="0" sldId="263"/>
            <ac:spMk id="55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6.601" v="492" actId="1076"/>
          <ac:spMkLst>
            <pc:docMk/>
            <pc:sldMk cId="0" sldId="263"/>
            <ac:spMk id="56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6.632" v="493" actId="1076"/>
          <ac:spMkLst>
            <pc:docMk/>
            <pc:sldMk cId="0" sldId="263"/>
            <ac:spMk id="57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6.648" v="494" actId="1076"/>
          <ac:spMkLst>
            <pc:docMk/>
            <pc:sldMk cId="0" sldId="263"/>
            <ac:spMk id="58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6.664" v="495" actId="1076"/>
          <ac:spMkLst>
            <pc:docMk/>
            <pc:sldMk cId="0" sldId="263"/>
            <ac:spMk id="59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6.679" v="496" actId="1076"/>
          <ac:spMkLst>
            <pc:docMk/>
            <pc:sldMk cId="0" sldId="263"/>
            <ac:spMk id="60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6.710" v="497" actId="1076"/>
          <ac:spMkLst>
            <pc:docMk/>
            <pc:sldMk cId="0" sldId="263"/>
            <ac:spMk id="61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6.726" v="498" actId="1076"/>
          <ac:spMkLst>
            <pc:docMk/>
            <pc:sldMk cId="0" sldId="263"/>
            <ac:spMk id="62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6.742" v="499" actId="1076"/>
          <ac:spMkLst>
            <pc:docMk/>
            <pc:sldMk cId="0" sldId="263"/>
            <ac:spMk id="63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6.757" v="500" actId="1076"/>
          <ac:spMkLst>
            <pc:docMk/>
            <pc:sldMk cId="0" sldId="263"/>
            <ac:spMk id="64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6.789" v="501" actId="1076"/>
          <ac:spMkLst>
            <pc:docMk/>
            <pc:sldMk cId="0" sldId="263"/>
            <ac:spMk id="65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6.804" v="502" actId="1076"/>
          <ac:spMkLst>
            <pc:docMk/>
            <pc:sldMk cId="0" sldId="263"/>
            <ac:spMk id="66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6.820" v="503" actId="1076"/>
          <ac:spMkLst>
            <pc:docMk/>
            <pc:sldMk cId="0" sldId="263"/>
            <ac:spMk id="67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6.835" v="504" actId="1076"/>
          <ac:spMkLst>
            <pc:docMk/>
            <pc:sldMk cId="0" sldId="263"/>
            <ac:spMk id="68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6.867" v="505" actId="1076"/>
          <ac:spMkLst>
            <pc:docMk/>
            <pc:sldMk cId="0" sldId="263"/>
            <ac:spMk id="69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6.882" v="506" actId="1076"/>
          <ac:spMkLst>
            <pc:docMk/>
            <pc:sldMk cId="0" sldId="263"/>
            <ac:spMk id="70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6.898" v="507" actId="1076"/>
          <ac:spMkLst>
            <pc:docMk/>
            <pc:sldMk cId="0" sldId="263"/>
            <ac:spMk id="71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6.914" v="508" actId="1076"/>
          <ac:spMkLst>
            <pc:docMk/>
            <pc:sldMk cId="0" sldId="263"/>
            <ac:spMk id="72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8:37:26.945" v="509" actId="1076"/>
          <ac:spMkLst>
            <pc:docMk/>
            <pc:sldMk cId="0" sldId="263"/>
            <ac:spMk id="73" creationId="{00000000-0000-0000-0000-000000000000}"/>
          </ac:spMkLst>
        </pc:spChg>
      </pc:sldChg>
      <pc:sldChg chg="del">
        <pc:chgData name="Huong Hoang Thi Lan" userId="S::huonghtl5@fpt.com::8eb6a9a1-01c3-462e-9af6-df7b162287c3" providerId="AD" clId="Web-{9E799971-F40D-16DC-747A-19DAFBF407C5}" dt="2026-06-04T08:29:45.897" v="205"/>
        <pc:sldMkLst>
          <pc:docMk/>
          <pc:sldMk cId="0" sldId="264"/>
        </pc:sldMkLst>
      </pc:sldChg>
      <pc:sldChg chg="modSp">
        <pc:chgData name="Huong Hoang Thi Lan" userId="S::huonghtl5@fpt.com::8eb6a9a1-01c3-462e-9af6-df7b162287c3" providerId="AD" clId="Web-{9E799971-F40D-16DC-747A-19DAFBF407C5}" dt="2026-06-04T09:47:37.880" v="556" actId="20577"/>
        <pc:sldMkLst>
          <pc:docMk/>
          <pc:sldMk cId="0" sldId="265"/>
        </pc:sldMkLst>
        <pc:spChg chg="mod">
          <ac:chgData name="Huong Hoang Thi Lan" userId="S::huonghtl5@fpt.com::8eb6a9a1-01c3-462e-9af6-df7b162287c3" providerId="AD" clId="Web-{9E799971-F40D-16DC-747A-19DAFBF407C5}" dt="2026-06-04T09:47:37.880" v="556" actId="20577"/>
          <ac:spMkLst>
            <pc:docMk/>
            <pc:sldMk cId="0" sldId="265"/>
            <ac:spMk id="17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9:17:27.437" v="512" actId="20577"/>
          <ac:spMkLst>
            <pc:docMk/>
            <pc:sldMk cId="0" sldId="265"/>
            <ac:spMk id="20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9:17:46.219" v="529" actId="20577"/>
          <ac:spMkLst>
            <pc:docMk/>
            <pc:sldMk cId="0" sldId="265"/>
            <ac:spMk id="21" creationId="{00000000-0000-0000-0000-000000000000}"/>
          </ac:spMkLst>
        </pc:spChg>
      </pc:sldChg>
      <pc:sldChg chg="modSp">
        <pc:chgData name="Huong Hoang Thi Lan" userId="S::huonghtl5@fpt.com::8eb6a9a1-01c3-462e-9af6-df7b162287c3" providerId="AD" clId="Web-{9E799971-F40D-16DC-747A-19DAFBF407C5}" dt="2026-06-04T09:56:10.136" v="594" actId="20577"/>
        <pc:sldMkLst>
          <pc:docMk/>
          <pc:sldMk cId="0" sldId="267"/>
        </pc:sldMkLst>
        <pc:spChg chg="mod">
          <ac:chgData name="Huong Hoang Thi Lan" userId="S::huonghtl5@fpt.com::8eb6a9a1-01c3-462e-9af6-df7b162287c3" providerId="AD" clId="Web-{9E799971-F40D-16DC-747A-19DAFBF407C5}" dt="2026-06-04T09:50:35.011" v="573" actId="20577"/>
          <ac:spMkLst>
            <pc:docMk/>
            <pc:sldMk cId="0" sldId="267"/>
            <ac:spMk id="4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9:50:45.433" v="583" actId="20577"/>
          <ac:spMkLst>
            <pc:docMk/>
            <pc:sldMk cId="0" sldId="267"/>
            <ac:spMk id="9" creationId="{00000000-0000-0000-0000-000000000000}"/>
          </ac:spMkLst>
        </pc:spChg>
        <pc:spChg chg="mod">
          <ac:chgData name="Huong Hoang Thi Lan" userId="S::huonghtl5@fpt.com::8eb6a9a1-01c3-462e-9af6-df7b162287c3" providerId="AD" clId="Web-{9E799971-F40D-16DC-747A-19DAFBF407C5}" dt="2026-06-04T09:56:10.136" v="594" actId="20577"/>
          <ac:spMkLst>
            <pc:docMk/>
            <pc:sldMk cId="0" sldId="267"/>
            <ac:spMk id="23" creationId="{00000000-0000-0000-0000-000000000000}"/>
          </ac:spMkLst>
        </pc:spChg>
      </pc:sldChg>
      <pc:sldChg chg="modSp">
        <pc:chgData name="Huong Hoang Thi Lan" userId="S::huonghtl5@fpt.com::8eb6a9a1-01c3-462e-9af6-df7b162287c3" providerId="AD" clId="Web-{9E799971-F40D-16DC-747A-19DAFBF407C5}" dt="2026-06-04T09:56:34.637" v="605" actId="20577"/>
        <pc:sldMkLst>
          <pc:docMk/>
          <pc:sldMk cId="0" sldId="268"/>
        </pc:sldMkLst>
        <pc:spChg chg="mod">
          <ac:chgData name="Huong Hoang Thi Lan" userId="S::huonghtl5@fpt.com::8eb6a9a1-01c3-462e-9af6-df7b162287c3" providerId="AD" clId="Web-{9E799971-F40D-16DC-747A-19DAFBF407C5}" dt="2026-06-04T09:56:34.637" v="605" actId="20577"/>
          <ac:spMkLst>
            <pc:docMk/>
            <pc:sldMk cId="0" sldId="268"/>
            <ac:spMk id="4" creationId="{00000000-0000-0000-0000-000000000000}"/>
          </ac:spMkLst>
        </pc:spChg>
      </pc:sldChg>
      <pc:sldChg chg="mod modShow">
        <pc:chgData name="Huong Hoang Thi Lan" userId="S::huonghtl5@fpt.com::8eb6a9a1-01c3-462e-9af6-df7b162287c3" providerId="AD" clId="Web-{9E799971-F40D-16DC-747A-19DAFBF407C5}" dt="2026-06-04T09:57:17.483" v="606"/>
        <pc:sldMkLst>
          <pc:docMk/>
          <pc:sldMk cId="0" sldId="269"/>
        </pc:sldMkLst>
      </pc:sldChg>
    </pc:docChg>
  </pc:docChgLst>
  <pc:docChgLst>
    <pc:chgData name="Thao Nguyen Phuong" userId="S::thaonp114@fpt.com::884f7a1e-e362-433a-ab38-44d3877d3823" providerId="AD" clId="Web-{19ECF776-325D-BD60-D0A4-4D5DB8C1BD20}"/>
    <pc:docChg chg="modSld">
      <pc:chgData name="Thao Nguyen Phuong" userId="S::thaonp114@fpt.com::884f7a1e-e362-433a-ab38-44d3877d3823" providerId="AD" clId="Web-{19ECF776-325D-BD60-D0A4-4D5DB8C1BD20}" dt="2026-06-05T04:10:24.118" v="6" actId="1076"/>
      <pc:docMkLst>
        <pc:docMk/>
      </pc:docMkLst>
      <pc:sldChg chg="addSp modSp">
        <pc:chgData name="Thao Nguyen Phuong" userId="S::thaonp114@fpt.com::884f7a1e-e362-433a-ab38-44d3877d3823" providerId="AD" clId="Web-{19ECF776-325D-BD60-D0A4-4D5DB8C1BD20}" dt="2026-06-05T04:10:24.118" v="6" actId="1076"/>
        <pc:sldMkLst>
          <pc:docMk/>
          <pc:sldMk cId="0" sldId="270"/>
        </pc:sldMkLst>
        <pc:picChg chg="add mod">
          <ac:chgData name="Thao Nguyen Phuong" userId="S::thaonp114@fpt.com::884f7a1e-e362-433a-ab38-44d3877d3823" providerId="AD" clId="Web-{19ECF776-325D-BD60-D0A4-4D5DB8C1BD20}" dt="2026-06-05T04:10:24.118" v="6" actId="1076"/>
          <ac:picMkLst>
            <pc:docMk/>
            <pc:sldMk cId="0" sldId="270"/>
            <ac:picMk id="43" creationId="{150C249B-12F0-5847-35A2-D2177D30B330}"/>
          </ac:picMkLst>
        </pc:picChg>
      </pc:sldChg>
    </pc:docChg>
  </pc:docChgLst>
  <pc:docChgLst>
    <pc:chgData name="Thao Nguyen Phuong" userId="S::thaonp114@fpt.com::884f7a1e-e362-433a-ab38-44d3877d3823" providerId="AD" clId="Web-{BE130012-DA70-0788-FD61-A57D735B491A}"/>
    <pc:docChg chg="addSld delSld modSld">
      <pc:chgData name="Thao Nguyen Phuong" userId="S::thaonp114@fpt.com::884f7a1e-e362-433a-ab38-44d3877d3823" providerId="AD" clId="Web-{BE130012-DA70-0788-FD61-A57D735B491A}" dt="2026-06-04T10:12:34.668" v="8"/>
      <pc:docMkLst>
        <pc:docMk/>
      </pc:docMkLst>
      <pc:sldChg chg="del">
        <pc:chgData name="Thao Nguyen Phuong" userId="S::thaonp114@fpt.com::884f7a1e-e362-433a-ab38-44d3877d3823" providerId="AD" clId="Web-{BE130012-DA70-0788-FD61-A57D735B491A}" dt="2026-06-04T10:02:52.504" v="0"/>
        <pc:sldMkLst>
          <pc:docMk/>
          <pc:sldMk cId="0" sldId="269"/>
        </pc:sldMkLst>
      </pc:sldChg>
      <pc:sldChg chg="addSp delSp modSp new">
        <pc:chgData name="Thao Nguyen Phuong" userId="S::thaonp114@fpt.com::884f7a1e-e362-433a-ab38-44d3877d3823" providerId="AD" clId="Web-{BE130012-DA70-0788-FD61-A57D735B491A}" dt="2026-06-04T10:12:34.668" v="8"/>
        <pc:sldMkLst>
          <pc:docMk/>
          <pc:sldMk cId="3064288686" sldId="273"/>
        </pc:sldMkLst>
        <pc:spChg chg="add">
          <ac:chgData name="Thao Nguyen Phuong" userId="S::thaonp114@fpt.com::884f7a1e-e362-433a-ab38-44d3877d3823" providerId="AD" clId="Web-{BE130012-DA70-0788-FD61-A57D735B491A}" dt="2026-06-04T10:12:25.621" v="6"/>
          <ac:spMkLst>
            <pc:docMk/>
            <pc:sldMk cId="3064288686" sldId="273"/>
            <ac:spMk id="3" creationId="{C5439E17-E88B-A1C3-81DD-3480DD51FD10}"/>
          </ac:spMkLst>
        </pc:spChg>
        <pc:spChg chg="add">
          <ac:chgData name="Thao Nguyen Phuong" userId="S::thaonp114@fpt.com::884f7a1e-e362-433a-ab38-44d3877d3823" providerId="AD" clId="Web-{BE130012-DA70-0788-FD61-A57D735B491A}" dt="2026-06-04T10:12:25.621" v="6"/>
          <ac:spMkLst>
            <pc:docMk/>
            <pc:sldMk cId="3064288686" sldId="273"/>
            <ac:spMk id="4" creationId="{58FE927F-EC1C-43C3-D3EC-3E6AE62C4269}"/>
          </ac:spMkLst>
        </pc:spChg>
        <pc:spChg chg="add">
          <ac:chgData name="Thao Nguyen Phuong" userId="S::thaonp114@fpt.com::884f7a1e-e362-433a-ab38-44d3877d3823" providerId="AD" clId="Web-{BE130012-DA70-0788-FD61-A57D735B491A}" dt="2026-06-04T10:12:25.621" v="6"/>
          <ac:spMkLst>
            <pc:docMk/>
            <pc:sldMk cId="3064288686" sldId="273"/>
            <ac:spMk id="11" creationId="{3CD5CCFA-34CE-30EA-23B6-DFF370560A5B}"/>
          </ac:spMkLst>
        </pc:spChg>
        <pc:spChg chg="add">
          <ac:chgData name="Thao Nguyen Phuong" userId="S::thaonp114@fpt.com::884f7a1e-e362-433a-ab38-44d3877d3823" providerId="AD" clId="Web-{BE130012-DA70-0788-FD61-A57D735B491A}" dt="2026-06-04T10:12:25.621" v="6"/>
          <ac:spMkLst>
            <pc:docMk/>
            <pc:sldMk cId="3064288686" sldId="273"/>
            <ac:spMk id="14" creationId="{AAA4B637-A43E-526E-2C79-618C1CECC9A7}"/>
          </ac:spMkLst>
        </pc:spChg>
        <pc:spChg chg="add">
          <ac:chgData name="Thao Nguyen Phuong" userId="S::thaonp114@fpt.com::884f7a1e-e362-433a-ab38-44d3877d3823" providerId="AD" clId="Web-{BE130012-DA70-0788-FD61-A57D735B491A}" dt="2026-06-04T10:12:25.621" v="6"/>
          <ac:spMkLst>
            <pc:docMk/>
            <pc:sldMk cId="3064288686" sldId="273"/>
            <ac:spMk id="16" creationId="{A81F40D5-E0ED-1007-0A3A-A838FD13025E}"/>
          </ac:spMkLst>
        </pc:spChg>
        <pc:spChg chg="add">
          <ac:chgData name="Thao Nguyen Phuong" userId="S::thaonp114@fpt.com::884f7a1e-e362-433a-ab38-44d3877d3823" providerId="AD" clId="Web-{BE130012-DA70-0788-FD61-A57D735B491A}" dt="2026-06-04T10:12:25.621" v="6"/>
          <ac:spMkLst>
            <pc:docMk/>
            <pc:sldMk cId="3064288686" sldId="273"/>
            <ac:spMk id="24" creationId="{34869CBB-694B-406F-721E-056E7870C3B9}"/>
          </ac:spMkLst>
        </pc:spChg>
        <pc:spChg chg="add">
          <ac:chgData name="Thao Nguyen Phuong" userId="S::thaonp114@fpt.com::884f7a1e-e362-433a-ab38-44d3877d3823" providerId="AD" clId="Web-{BE130012-DA70-0788-FD61-A57D735B491A}" dt="2026-06-04T10:12:25.621" v="6"/>
          <ac:spMkLst>
            <pc:docMk/>
            <pc:sldMk cId="3064288686" sldId="273"/>
            <ac:spMk id="25" creationId="{0CE9B081-E609-5A03-7B5E-C134BA02486F}"/>
          </ac:spMkLst>
        </pc:spChg>
        <pc:spChg chg="add">
          <ac:chgData name="Thao Nguyen Phuong" userId="S::thaonp114@fpt.com::884f7a1e-e362-433a-ab38-44d3877d3823" providerId="AD" clId="Web-{BE130012-DA70-0788-FD61-A57D735B491A}" dt="2026-06-04T10:12:25.621" v="6"/>
          <ac:spMkLst>
            <pc:docMk/>
            <pc:sldMk cId="3064288686" sldId="273"/>
            <ac:spMk id="26" creationId="{CE1F8F95-6A50-200A-5A72-672F96559EB2}"/>
          </ac:spMkLst>
        </pc:spChg>
        <pc:spChg chg="add">
          <ac:chgData name="Thao Nguyen Phuong" userId="S::thaonp114@fpt.com::884f7a1e-e362-433a-ab38-44d3877d3823" providerId="AD" clId="Web-{BE130012-DA70-0788-FD61-A57D735B491A}" dt="2026-06-04T10:12:25.621" v="6"/>
          <ac:spMkLst>
            <pc:docMk/>
            <pc:sldMk cId="3064288686" sldId="273"/>
            <ac:spMk id="28" creationId="{19B199E4-2315-2C5E-67B0-AF017B1706F3}"/>
          </ac:spMkLst>
        </pc:spChg>
        <pc:spChg chg="add del mod">
          <ac:chgData name="Thao Nguyen Phuong" userId="S::thaonp114@fpt.com::884f7a1e-e362-433a-ab38-44d3877d3823" providerId="AD" clId="Web-{BE130012-DA70-0788-FD61-A57D735B491A}" dt="2026-06-04T10:12:34.668" v="8"/>
          <ac:spMkLst>
            <pc:docMk/>
            <pc:sldMk cId="3064288686" sldId="273"/>
            <ac:spMk id="32" creationId="{2C50405E-FA4B-A97D-5B29-D9CD80F02DB5}"/>
          </ac:spMkLst>
        </pc:spChg>
        <pc:picChg chg="add del mod">
          <ac:chgData name="Thao Nguyen Phuong" userId="S::thaonp114@fpt.com::884f7a1e-e362-433a-ab38-44d3877d3823" providerId="AD" clId="Web-{BE130012-DA70-0788-FD61-A57D735B491A}" dt="2026-06-04T10:11:13.915" v="5"/>
          <ac:picMkLst>
            <pc:docMk/>
            <pc:sldMk cId="3064288686" sldId="273"/>
            <ac:picMk id="2" creationId="{9DA08912-90EA-8310-FF90-15769803988D}"/>
          </ac:picMkLst>
        </pc:picChg>
      </pc:sldChg>
    </pc:docChg>
  </pc:docChgLst>
  <pc:docChgLst>
    <pc:chgData name="Huong Hoang Thi Lan" userId="S::huonghtl5@fpt.com::8eb6a9a1-01c3-462e-9af6-df7b162287c3" providerId="AD" clId="Web-{71FEFF2D-5520-3F0A-5F7F-4488BDA6A544}"/>
    <pc:docChg chg="mod">
      <pc:chgData name="Huong Hoang Thi Lan" userId="S::huonghtl5@fpt.com::8eb6a9a1-01c3-462e-9af6-df7b162287c3" providerId="AD" clId="Web-{71FEFF2D-5520-3F0A-5F7F-4488BDA6A544}" dt="2026-06-04T10:26:20.262" v="0"/>
      <pc:docMkLst>
        <pc:docMk/>
      </pc:docMkLst>
    </pc:docChg>
  </pc:docChgLst>
</pc:chgInfo>
</file>

<file path=ppt/comments/modernComment_111_B6A555A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A94ACE2-56C0-4871-A003-D628317D545C}" authorId="{47D9492B-C31F-4475-947D-5383D141360D}" created="2026-06-04T10:26:20.26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064288686" sldId="273"/>
      <ac:spMk id="23" creationId="{548A6ED6-5E21-FB59-5B8F-2799FC9EF85E}"/>
    </ac:deMkLst>
    <p188:txBody>
      <a:bodyPr/>
      <a:lstStyle/>
      <a:p>
        <a:r>
          <a:rPr lang="en-US"/>
          <a:t>cái này khác gì Auto shutdown?</a:t>
        </a:r>
      </a:p>
    </p188:txBody>
  </p188:cm>
</p188:cmLst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41B959-04B9-42EC-8EAD-B3BBCD6898DE}" type="datetimeFigureOut">
              <a:t>6/4/2026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49D825-D1FA-4EF9-9C19-A1891B5D3E7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524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microsoft.com/office/2018/10/relationships/comments" Target="../comments/modernComment_111_B6A555AE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743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55080" y="2743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0" y="2743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78040" y="2743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0" y="2743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0" y="2743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0" y="2743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23960" y="2743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0" y="10058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10058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0" y="10058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78040" y="10058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89520" y="10058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10058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10058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23960" y="10058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0" y="17373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17373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17373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78040" y="17373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89520" y="17373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01000" y="17373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0" y="17373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23960" y="17373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0" y="24688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55080" y="24688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66560" y="24688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78040" y="24688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89520" y="24688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01000" y="24688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0" y="24688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23960" y="24688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0" y="32004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55080" y="32004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66560" y="32004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78040" y="32004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89520" y="32004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01000" y="32004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12480" y="32004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823960" y="32004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43600" y="39319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55080" y="39319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66560" y="39319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178040" y="39319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589520" y="39319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001000" y="39319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412480" y="39319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823960" y="39319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822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ONLY</a:t>
            </a:r>
            <a:endParaRPr lang="en-US" sz="1000"/>
          </a:p>
        </p:txBody>
      </p:sp>
      <p:sp>
        <p:nvSpPr>
          <p:cNvPr id="52" name="Text 50"/>
          <p:cNvSpPr/>
          <p:nvPr/>
        </p:nvSpPr>
        <p:spPr>
          <a:xfrm>
            <a:off x="365760" y="123444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Inference</a:t>
            </a:r>
            <a:endParaRPr lang="en-US" sz="4200"/>
          </a:p>
          <a:p>
            <a:pPr marL="0" indent="0">
              <a:lnSpc>
                <a:spcPct val="115000"/>
              </a:lnSpc>
              <a:buNone/>
            </a:pPr>
            <a:r>
              <a:rPr lang="en-US" sz="4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Segments</a:t>
            </a:r>
            <a:endParaRPr lang="en-US" sz="4200"/>
          </a:p>
        </p:txBody>
      </p:sp>
      <p:sp>
        <p:nvSpPr>
          <p:cNvPr id="53" name="Text 51"/>
          <p:cNvSpPr/>
          <p:nvPr/>
        </p:nvSpPr>
        <p:spPr>
          <a:xfrm>
            <a:off x="365760" y="3108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mới thật sự mua — và tại sao họ mua</a:t>
            </a:r>
            <a:endParaRPr lang="en-US" sz="1600"/>
          </a:p>
        </p:txBody>
      </p:sp>
      <p:sp>
        <p:nvSpPr>
          <p:cNvPr id="54" name="Shape 52"/>
          <p:cNvSpPr/>
          <p:nvPr/>
        </p:nvSpPr>
        <p:spPr>
          <a:xfrm>
            <a:off x="365760" y="4297680"/>
            <a:ext cx="1965960" cy="384048"/>
          </a:xfrm>
          <a:prstGeom prst="roundRect">
            <a:avLst>
              <a:gd name="adj" fmla="val 16667"/>
            </a:avLst>
          </a:prstGeom>
          <a:solidFill>
            <a:srgbClr val="1A326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429768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BFSI</a:t>
            </a:r>
            <a:endParaRPr lang="en-US" sz="1100"/>
          </a:p>
        </p:txBody>
      </p:sp>
      <p:sp>
        <p:nvSpPr>
          <p:cNvPr id="56" name="Shape 54"/>
          <p:cNvSpPr/>
          <p:nvPr/>
        </p:nvSpPr>
        <p:spPr>
          <a:xfrm>
            <a:off x="2560320" y="4297680"/>
            <a:ext cx="1965960" cy="384048"/>
          </a:xfrm>
          <a:prstGeom prst="roundRect">
            <a:avLst>
              <a:gd name="adj" fmla="val 16667"/>
            </a:avLst>
          </a:prstGeom>
          <a:solidFill>
            <a:srgbClr val="1A326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60320" y="429768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Retail Chain</a:t>
            </a:r>
            <a:endParaRPr lang="en-US" sz="1100"/>
          </a:p>
        </p:txBody>
      </p:sp>
      <p:sp>
        <p:nvSpPr>
          <p:cNvPr id="58" name="Shape 56"/>
          <p:cNvSpPr/>
          <p:nvPr/>
        </p:nvSpPr>
        <p:spPr>
          <a:xfrm>
            <a:off x="4754880" y="4297680"/>
            <a:ext cx="1965960" cy="384048"/>
          </a:xfrm>
          <a:prstGeom prst="roundRect">
            <a:avLst>
              <a:gd name="adj" fmla="val 16667"/>
            </a:avLst>
          </a:prstGeom>
          <a:solidFill>
            <a:srgbClr val="1A326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54880" y="429768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Healthcare</a:t>
            </a:r>
            <a:endParaRPr lang="en-US" sz="1100"/>
          </a:p>
        </p:txBody>
      </p:sp>
      <p:sp>
        <p:nvSpPr>
          <p:cNvPr id="60" name="Shape 58"/>
          <p:cNvSpPr/>
          <p:nvPr/>
        </p:nvSpPr>
        <p:spPr>
          <a:xfrm>
            <a:off x="6949440" y="4297680"/>
            <a:ext cx="1965960" cy="384048"/>
          </a:xfrm>
          <a:prstGeom prst="roundRect">
            <a:avLst>
              <a:gd name="adj" fmla="val 16667"/>
            </a:avLst>
          </a:prstGeom>
          <a:solidFill>
            <a:srgbClr val="1A326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949440" y="429768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Mid-market Tech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B1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r>
              <a:rPr sz="2200" b="1">
                <a:solidFill>
                  <a:srgbClr val="FFFFFF"/>
                </a:solidFill>
                <a:latin typeface="Arial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8503920" cy="640080"/>
          </a:xfrm>
          <a:prstGeom prst="rect">
            <a:avLst/>
          </a:prstGeom>
          <a:solidFill>
            <a:srgbClr val="F4F7FB"/>
          </a:solidFill>
          <a:ln w="9525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868680"/>
            <a:ext cx="640080" cy="640080"/>
          </a:xfrm>
          <a:prstGeom prst="rect">
            <a:avLst/>
          </a:prstGeom>
          <a:solidFill>
            <a:srgbClr val="1E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" y="914400"/>
            <a:ext cx="7589520" cy="548640"/>
          </a:xfrm>
          <a:prstGeom prst="rect">
            <a:avLst/>
          </a:prstGeom>
          <a:noFill/>
        </p:spPr>
        <p:txBody>
          <a:bodyPr wrap="square" lIns="0" tIns="0" anchor="ctr">
            <a:spAutoFit/>
          </a:bodyPr>
          <a:lstStyle/>
          <a:p>
            <a:r>
              <a:rPr sz="1300" b="1">
                <a:solidFill>
                  <a:srgbClr val="1A1A1A"/>
                </a:solidFill>
                <a:latin typeface="Arial"/>
              </a:rPr>
              <a:t>Market Segments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B7280"/>
                </a:solidFill>
                <a:latin typeface="Arial"/>
              </a:rPr>
              <a:t>5 phân khúc B2B, xếp theo độ ưu tiên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81912"/>
            <a:ext cx="85039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581912"/>
            <a:ext cx="640080" cy="640080"/>
          </a:xfrm>
          <a:prstGeom prst="rect">
            <a:avLst/>
          </a:prstGeom>
          <a:solidFill>
            <a:srgbClr val="1E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1627632"/>
            <a:ext cx="7589520" cy="548640"/>
          </a:xfrm>
          <a:prstGeom prst="rect">
            <a:avLst/>
          </a:prstGeom>
          <a:noFill/>
        </p:spPr>
        <p:txBody>
          <a:bodyPr wrap="square" lIns="0" tIns="0" anchor="ctr">
            <a:spAutoFit/>
          </a:bodyPr>
          <a:lstStyle/>
          <a:p>
            <a:r>
              <a:rPr sz="1300" b="1">
                <a:solidFill>
                  <a:srgbClr val="1A1A1A"/>
                </a:solidFill>
                <a:latin typeface="Arial"/>
              </a:rPr>
              <a:t>Target Customers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B7280"/>
                </a:solidFill>
                <a:latin typeface="Arial"/>
              </a:rPr>
              <a:t>#1 BFSI &amp; #4 Mid-market Tech — lý do chọn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295144"/>
            <a:ext cx="8503920" cy="640080"/>
          </a:xfrm>
          <a:prstGeom prst="rect">
            <a:avLst/>
          </a:prstGeom>
          <a:solidFill>
            <a:srgbClr val="F4F7FB"/>
          </a:solidFill>
          <a:ln w="9525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2295144"/>
            <a:ext cx="640080" cy="640080"/>
          </a:xfrm>
          <a:prstGeom prst="rect">
            <a:avLst/>
          </a:prstGeom>
          <a:solidFill>
            <a:srgbClr val="1E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2340864"/>
            <a:ext cx="7589520" cy="548640"/>
          </a:xfrm>
          <a:prstGeom prst="rect">
            <a:avLst/>
          </a:prstGeom>
          <a:noFill/>
        </p:spPr>
        <p:txBody>
          <a:bodyPr wrap="square" lIns="0" tIns="0" anchor="ctr">
            <a:spAutoFit/>
          </a:bodyPr>
          <a:lstStyle/>
          <a:p>
            <a:r>
              <a:rPr sz="1300" b="1">
                <a:solidFill>
                  <a:srgbClr val="1A1A1A"/>
                </a:solidFill>
                <a:latin typeface="Arial"/>
              </a:rPr>
              <a:t>User Personas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B7280"/>
                </a:solidFill>
                <a:latin typeface="Arial"/>
              </a:rPr>
              <a:t>Buyer &amp; Champion tại mỗi segment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008376"/>
            <a:ext cx="85039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" y="3008376"/>
            <a:ext cx="640080" cy="640080"/>
          </a:xfrm>
          <a:prstGeom prst="rect">
            <a:avLst/>
          </a:prstGeom>
          <a:solidFill>
            <a:srgbClr val="1E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" y="3054096"/>
            <a:ext cx="7589520" cy="548640"/>
          </a:xfrm>
          <a:prstGeom prst="rect">
            <a:avLst/>
          </a:prstGeom>
          <a:noFill/>
        </p:spPr>
        <p:txBody>
          <a:bodyPr wrap="square" lIns="0" tIns="0" anchor="ctr">
            <a:spAutoFit/>
          </a:bodyPr>
          <a:lstStyle/>
          <a:p>
            <a:r>
              <a:rPr sz="1300" b="1">
                <a:solidFill>
                  <a:srgbClr val="1A1A1A"/>
                </a:solidFill>
                <a:latin typeface="Arial"/>
              </a:rPr>
              <a:t>Customer Journey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B7280"/>
                </a:solidFill>
                <a:latin typeface="Arial"/>
              </a:rPr>
              <a:t>Awareness → Evaluate → Buy → Expand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721608"/>
            <a:ext cx="8503920" cy="640080"/>
          </a:xfrm>
          <a:prstGeom prst="rect">
            <a:avLst/>
          </a:prstGeom>
          <a:solidFill>
            <a:srgbClr val="F4F7FB"/>
          </a:solidFill>
          <a:ln w="9525">
            <a:solidFill>
              <a:srgbClr val="E5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3721608"/>
            <a:ext cx="640080" cy="640080"/>
          </a:xfrm>
          <a:prstGeom prst="rect">
            <a:avLst/>
          </a:prstGeom>
          <a:solidFill>
            <a:srgbClr val="1E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" y="3767328"/>
            <a:ext cx="7589520" cy="548640"/>
          </a:xfrm>
          <a:prstGeom prst="rect">
            <a:avLst/>
          </a:prstGeom>
          <a:noFill/>
        </p:spPr>
        <p:txBody>
          <a:bodyPr wrap="square" lIns="0" tIns="0" anchor="ctr">
            <a:spAutoFit/>
          </a:bodyPr>
          <a:lstStyle/>
          <a:p>
            <a:r>
              <a:rPr sz="1300" b="1">
                <a:solidFill>
                  <a:srgbClr val="1A1A1A"/>
                </a:solidFill>
                <a:latin typeface="Arial"/>
              </a:rPr>
              <a:t>Feature List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B7280"/>
                </a:solidFill>
                <a:latin typeface="Arial"/>
              </a:rPr>
              <a:t>7 module — từ Model Catalog đến API Keys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4732020"/>
            <a:ext cx="1005840" cy="27432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Arial"/>
              </a:rPr>
              <a:t>Page 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Overview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6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5 </a:t>
            </a:r>
            <a:r>
              <a:rPr lang="en-US" sz="2600" b="1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phân</a:t>
            </a:r>
            <a:r>
              <a:rPr lang="en-US" sz="26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600" b="1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khúc</a:t>
            </a:r>
            <a:r>
              <a:rPr lang="en-US" sz="26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— </a:t>
            </a:r>
            <a:r>
              <a:rPr lang="en-US" sz="2600" b="1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ưu</a:t>
            </a:r>
            <a:r>
              <a:rPr lang="en-US" sz="26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600" b="1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tiên</a:t>
            </a:r>
            <a:r>
              <a:rPr lang="en-US" sz="26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600" b="1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theo</a:t>
            </a:r>
            <a:r>
              <a:rPr lang="en-US" sz="26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budget </a:t>
            </a:r>
            <a:r>
              <a:rPr lang="en-US" sz="2600" b="1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và</a:t>
            </a:r>
            <a:r>
              <a:rPr lang="en-US" sz="26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600" b="1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khả</a:t>
            </a:r>
            <a:r>
              <a:rPr lang="en-US" sz="26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600" b="1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năng</a:t>
            </a:r>
            <a:r>
              <a:rPr lang="en-US" sz="26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600" b="1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tiếp</a:t>
            </a:r>
            <a:r>
              <a:rPr lang="en-US" sz="26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600" b="1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cận</a:t>
            </a:r>
            <a:endParaRPr lang="en-US" sz="2600" err="1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47472" y="123444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234440"/>
            <a:ext cx="64008" cy="1600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3258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484632" y="1645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BFSI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484632" y="19842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Banking, Financial Services &amp; Insurance</a:t>
            </a:r>
            <a:endParaRPr lang="en-US" sz="1050"/>
          </a:p>
        </p:txBody>
      </p:sp>
      <p:sp>
        <p:nvSpPr>
          <p:cNvPr id="9" name="Shape 7"/>
          <p:cNvSpPr/>
          <p:nvPr/>
        </p:nvSpPr>
        <p:spPr>
          <a:xfrm>
            <a:off x="484632" y="2404872"/>
            <a:ext cx="2286000" cy="27432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40487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ARR: $1M–20M+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1993392" y="13258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800"/>
          </a:p>
        </p:txBody>
      </p:sp>
      <p:sp>
        <p:nvSpPr>
          <p:cNvPr id="20" name="Shape 18"/>
          <p:cNvSpPr/>
          <p:nvPr/>
        </p:nvSpPr>
        <p:spPr>
          <a:xfrm>
            <a:off x="3203900" y="3065025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3900" y="3065025"/>
            <a:ext cx="64008" cy="1600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41060" y="3156465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#4</a:t>
            </a:r>
            <a:endParaRPr lang="en-US" sz="2000"/>
          </a:p>
        </p:txBody>
      </p:sp>
      <p:sp>
        <p:nvSpPr>
          <p:cNvPr id="23" name="Text 21"/>
          <p:cNvSpPr/>
          <p:nvPr/>
        </p:nvSpPr>
        <p:spPr>
          <a:xfrm>
            <a:off x="3341060" y="3476505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400"/>
          </a:p>
        </p:txBody>
      </p:sp>
      <p:sp>
        <p:nvSpPr>
          <p:cNvPr id="24" name="Text 22"/>
          <p:cNvSpPr/>
          <p:nvPr/>
        </p:nvSpPr>
        <p:spPr>
          <a:xfrm>
            <a:off x="3341060" y="3814833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Bệnh viện &amp; life sciences</a:t>
            </a:r>
            <a:endParaRPr lang="en-US" sz="1050"/>
          </a:p>
        </p:txBody>
      </p:sp>
      <p:sp>
        <p:nvSpPr>
          <p:cNvPr id="25" name="Shape 23"/>
          <p:cNvSpPr/>
          <p:nvPr/>
        </p:nvSpPr>
        <p:spPr>
          <a:xfrm>
            <a:off x="3341060" y="4235457"/>
            <a:ext cx="2286000" cy="27432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6780" y="4235457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ARR: $500K–15M</a:t>
            </a:r>
            <a:endParaRPr lang="en-US" sz="1000"/>
          </a:p>
        </p:txBody>
      </p:sp>
      <p:sp>
        <p:nvSpPr>
          <p:cNvPr id="27" name="Text 25"/>
          <p:cNvSpPr/>
          <p:nvPr/>
        </p:nvSpPr>
        <p:spPr>
          <a:xfrm>
            <a:off x="4849820" y="3156465"/>
            <a:ext cx="91440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/>
            <a:r>
              <a:rPr lang="en-US" sz="800" b="1">
                <a:solidFill>
                  <a:srgbClr val="1A3260"/>
                </a:solidFill>
                <a:latin typeface="Calibri"/>
                <a:ea typeface="Calibri"/>
                <a:cs typeface="Calibri"/>
              </a:rPr>
              <a:t>SECONDARY</a:t>
            </a:r>
            <a:endParaRPr lang="en-US" sz="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47471" y="3065384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7471" y="3065384"/>
            <a:ext cx="64008" cy="1600200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1" y="315682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A3260"/>
                </a:solidFill>
                <a:latin typeface="Calibri"/>
                <a:ea typeface="Calibri"/>
                <a:cs typeface="Calibri"/>
              </a:rPr>
              <a:t>#3</a:t>
            </a:r>
            <a:endParaRPr lang="en-US" sz="2000"/>
          </a:p>
        </p:txBody>
      </p:sp>
      <p:sp>
        <p:nvSpPr>
          <p:cNvPr id="31" name="Text 29"/>
          <p:cNvSpPr/>
          <p:nvPr/>
        </p:nvSpPr>
        <p:spPr>
          <a:xfrm>
            <a:off x="484631" y="347686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Retail Chain</a:t>
            </a:r>
            <a:endParaRPr lang="en-US" sz="1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84631" y="38151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Chuỗi </a:t>
            </a:r>
            <a:r>
              <a:rPr lang="en-US" sz="110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bán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10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lẻ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 &amp; e-commerce </a:t>
            </a:r>
            <a:r>
              <a:rPr lang="en-US" sz="110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lớn</a:t>
            </a:r>
            <a:endParaRPr lang="en-US" sz="1100" err="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1050">
              <a:solidFill>
                <a:srgbClr val="64748B"/>
              </a:solidFill>
              <a:ea typeface="Calibri"/>
              <a:cs typeface="Calibri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84631" y="4235816"/>
            <a:ext cx="2286000" cy="27432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1" y="4235816"/>
            <a:ext cx="22402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b="1">
                <a:solidFill>
                  <a:srgbClr val="028090"/>
                </a:solidFill>
                <a:ea typeface="Calibri"/>
                <a:cs typeface="Calibri"/>
              </a:rPr>
              <a:t>ARR: $500K–10M</a:t>
            </a:r>
            <a:endParaRPr lang="en-US" sz="100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993391" y="3156824"/>
            <a:ext cx="91440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1A3260"/>
                </a:solidFill>
                <a:latin typeface="Calibri"/>
                <a:ea typeface="Calibri"/>
                <a:cs typeface="Calibri"/>
              </a:rPr>
              <a:t>SECONDARY</a:t>
            </a:r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030682" y="3083242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30682" y="3083242"/>
            <a:ext cx="64008" cy="1600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67842" y="3174683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2000"/>
          </a:p>
        </p:txBody>
      </p:sp>
      <p:sp>
        <p:nvSpPr>
          <p:cNvPr id="39" name="Text 37"/>
          <p:cNvSpPr/>
          <p:nvPr/>
        </p:nvSpPr>
        <p:spPr>
          <a:xfrm>
            <a:off x="6167842" y="3494723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Startup</a:t>
            </a:r>
            <a:endParaRPr lang="en-US" sz="1400"/>
          </a:p>
        </p:txBody>
      </p:sp>
      <p:sp>
        <p:nvSpPr>
          <p:cNvPr id="40" name="Text 38"/>
          <p:cNvSpPr/>
          <p:nvPr/>
        </p:nvSpPr>
        <p:spPr>
          <a:xfrm>
            <a:off x="6167842" y="3833051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A+, có enterprise customer</a:t>
            </a:r>
            <a:endParaRPr lang="en-US" sz="1050"/>
          </a:p>
        </p:txBody>
      </p:sp>
      <p:sp>
        <p:nvSpPr>
          <p:cNvPr id="41" name="Shape 39"/>
          <p:cNvSpPr/>
          <p:nvPr/>
        </p:nvSpPr>
        <p:spPr>
          <a:xfrm>
            <a:off x="6167842" y="4253675"/>
            <a:ext cx="2286000" cy="27432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3562" y="4253675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ARR: $50K–2M</a:t>
            </a:r>
            <a:endParaRPr lang="en-US" sz="1000"/>
          </a:p>
        </p:txBody>
      </p:sp>
      <p:sp>
        <p:nvSpPr>
          <p:cNvPr id="43" name="Text 41"/>
          <p:cNvSpPr/>
          <p:nvPr/>
        </p:nvSpPr>
        <p:spPr>
          <a:xfrm>
            <a:off x="7676602" y="3174683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 KỸ</a:t>
            </a:r>
            <a:endParaRPr lang="en-US" sz="800"/>
          </a:p>
        </p:txBody>
      </p:sp>
      <p:sp>
        <p:nvSpPr>
          <p:cNvPr id="44" name="Shape 10">
            <a:extLst>
              <a:ext uri="{FF2B5EF4-FFF2-40B4-BE49-F238E27FC236}">
                <a16:creationId xmlns:a16="http://schemas.microsoft.com/office/drawing/2014/main" id="{4F29ACD3-13FB-8CF9-A841-DEBDAE083282}"/>
              </a:ext>
            </a:extLst>
          </p:cNvPr>
          <p:cNvSpPr/>
          <p:nvPr/>
        </p:nvSpPr>
        <p:spPr>
          <a:xfrm>
            <a:off x="3208901" y="1252299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Shape 11">
            <a:extLst>
              <a:ext uri="{FF2B5EF4-FFF2-40B4-BE49-F238E27FC236}">
                <a16:creationId xmlns:a16="http://schemas.microsoft.com/office/drawing/2014/main" id="{3093BA7F-797D-4383-AB97-F2C9FB80B2CE}"/>
              </a:ext>
            </a:extLst>
          </p:cNvPr>
          <p:cNvSpPr/>
          <p:nvPr/>
        </p:nvSpPr>
        <p:spPr>
          <a:xfrm>
            <a:off x="3208901" y="1252299"/>
            <a:ext cx="64008" cy="1600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6" name="Text 12">
            <a:extLst>
              <a:ext uri="{FF2B5EF4-FFF2-40B4-BE49-F238E27FC236}">
                <a16:creationId xmlns:a16="http://schemas.microsoft.com/office/drawing/2014/main" id="{763BCB53-6C31-EBF8-156C-D622E87A0274}"/>
              </a:ext>
            </a:extLst>
          </p:cNvPr>
          <p:cNvSpPr/>
          <p:nvPr/>
        </p:nvSpPr>
        <p:spPr>
          <a:xfrm>
            <a:off x="3346061" y="1343739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2000"/>
          </a:p>
        </p:txBody>
      </p:sp>
      <p:sp>
        <p:nvSpPr>
          <p:cNvPr id="47" name="Text 13">
            <a:extLst>
              <a:ext uri="{FF2B5EF4-FFF2-40B4-BE49-F238E27FC236}">
                <a16:creationId xmlns:a16="http://schemas.microsoft.com/office/drawing/2014/main" id="{F2A469DB-2D6D-7F1D-76F9-C7F7D837D19D}"/>
              </a:ext>
            </a:extLst>
          </p:cNvPr>
          <p:cNvSpPr/>
          <p:nvPr/>
        </p:nvSpPr>
        <p:spPr>
          <a:xfrm>
            <a:off x="3346061" y="1663779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Mid-market Tech</a:t>
            </a:r>
            <a:endParaRPr lang="en-US"/>
          </a:p>
        </p:txBody>
      </p:sp>
      <p:sp>
        <p:nvSpPr>
          <p:cNvPr id="48" name="Text 14">
            <a:extLst>
              <a:ext uri="{FF2B5EF4-FFF2-40B4-BE49-F238E27FC236}">
                <a16:creationId xmlns:a16="http://schemas.microsoft.com/office/drawing/2014/main" id="{34D96C86-1763-0125-783F-C2099B464483}"/>
              </a:ext>
            </a:extLst>
          </p:cNvPr>
          <p:cNvSpPr/>
          <p:nvPr/>
        </p:nvSpPr>
        <p:spPr>
          <a:xfrm>
            <a:off x="3346061" y="2002107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SaaS </a:t>
            </a:r>
            <a:r>
              <a:rPr lang="en-US" sz="110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có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 LLM </a:t>
            </a:r>
            <a:r>
              <a:rPr lang="en-US" sz="110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trong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 production</a:t>
            </a:r>
            <a:endParaRPr lang="en-US" sz="11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1050">
              <a:solidFill>
                <a:srgbClr val="64748B"/>
              </a:solidFill>
              <a:ea typeface="Calibri"/>
              <a:cs typeface="Calibri"/>
            </a:endParaRPr>
          </a:p>
        </p:txBody>
      </p:sp>
      <p:sp>
        <p:nvSpPr>
          <p:cNvPr id="49" name="Shape 15">
            <a:extLst>
              <a:ext uri="{FF2B5EF4-FFF2-40B4-BE49-F238E27FC236}">
                <a16:creationId xmlns:a16="http://schemas.microsoft.com/office/drawing/2014/main" id="{C8A51056-E1B7-D4FD-BD70-F056E775FCE7}"/>
              </a:ext>
            </a:extLst>
          </p:cNvPr>
          <p:cNvSpPr/>
          <p:nvPr/>
        </p:nvSpPr>
        <p:spPr>
          <a:xfrm>
            <a:off x="3346061" y="2422731"/>
            <a:ext cx="2286000" cy="27432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16">
            <a:extLst>
              <a:ext uri="{FF2B5EF4-FFF2-40B4-BE49-F238E27FC236}">
                <a16:creationId xmlns:a16="http://schemas.microsoft.com/office/drawing/2014/main" id="{2C215140-5483-AD61-8CA3-3D0CF444C9DF}"/>
              </a:ext>
            </a:extLst>
          </p:cNvPr>
          <p:cNvSpPr/>
          <p:nvPr/>
        </p:nvSpPr>
        <p:spPr>
          <a:xfrm>
            <a:off x="3391781" y="2422731"/>
            <a:ext cx="22402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ARR: $200K–5M</a:t>
            </a:r>
            <a:endParaRPr lang="en-US" sz="1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" name="Text 17">
            <a:extLst>
              <a:ext uri="{FF2B5EF4-FFF2-40B4-BE49-F238E27FC236}">
                <a16:creationId xmlns:a16="http://schemas.microsoft.com/office/drawing/2014/main" id="{EB931AF5-95A0-8C68-2CE1-EFB4698D03AE}"/>
              </a:ext>
            </a:extLst>
          </p:cNvPr>
          <p:cNvSpPr/>
          <p:nvPr/>
        </p:nvSpPr>
        <p:spPr>
          <a:xfrm>
            <a:off x="4854821" y="1343739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731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— BFSI</a:t>
            </a:r>
            <a:endParaRPr lang="en-US" sz="1100"/>
          </a:p>
        </p:txBody>
      </p:sp>
      <p:sp>
        <p:nvSpPr>
          <p:cNvPr id="5" name="Text 3"/>
          <p:cNvSpPr/>
          <p:nvPr/>
        </p:nvSpPr>
        <p:spPr>
          <a:xfrm>
            <a:off x="182880" y="39319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Banking, Financial Services &amp; Insurance</a:t>
            </a:r>
            <a:endParaRPr lang="en-US" sz="2600"/>
          </a:p>
        </p:txBody>
      </p:sp>
      <p:sp>
        <p:nvSpPr>
          <p:cNvPr id="6" name="Text 4"/>
          <p:cNvSpPr/>
          <p:nvPr/>
        </p:nvSpPr>
        <p:spPr>
          <a:xfrm>
            <a:off x="182880" y="82296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TARGET · Budget pre-approved · Compliance bắt buộc dùng dedicated</a:t>
            </a:r>
            <a:endParaRPr lang="en-US" sz="105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34440"/>
            <a:ext cx="2743200" cy="502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29844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$43B</a:t>
            </a:r>
            <a:endParaRPr lang="en-US" sz="2800"/>
          </a:p>
        </p:txBody>
      </p:sp>
      <p:sp>
        <p:nvSpPr>
          <p:cNvPr id="10" name="Text 8"/>
          <p:cNvSpPr/>
          <p:nvPr/>
        </p:nvSpPr>
        <p:spPr>
          <a:xfrm>
            <a:off x="274320" y="17373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BFSI market 2024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274320" y="198424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24% đến 2033</a:t>
            </a:r>
            <a:endParaRPr lang="en-US" sz="900"/>
          </a:p>
        </p:txBody>
      </p:sp>
      <p:sp>
        <p:nvSpPr>
          <p:cNvPr id="12" name="Shape 10"/>
          <p:cNvSpPr/>
          <p:nvPr/>
        </p:nvSpPr>
        <p:spPr>
          <a:xfrm>
            <a:off x="3227832" y="1234440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27832" y="1234440"/>
            <a:ext cx="2743200" cy="502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27832" y="129844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$2B</a:t>
            </a:r>
            <a:endParaRPr lang="en-US" sz="2800"/>
          </a:p>
        </p:txBody>
      </p:sp>
      <p:sp>
        <p:nvSpPr>
          <p:cNvPr id="15" name="Text 13"/>
          <p:cNvSpPr/>
          <p:nvPr/>
        </p:nvSpPr>
        <p:spPr>
          <a:xfrm>
            <a:off x="3227832" y="17373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JPMorgan AI infra/năm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3227832" y="198424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200K+ nhân viên dùng LLM</a:t>
            </a:r>
            <a:endParaRPr lang="en-US" sz="900"/>
          </a:p>
        </p:txBody>
      </p:sp>
      <p:sp>
        <p:nvSpPr>
          <p:cNvPr id="17" name="Shape 15"/>
          <p:cNvSpPr/>
          <p:nvPr/>
        </p:nvSpPr>
        <p:spPr>
          <a:xfrm>
            <a:off x="6181344" y="1234440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81344" y="1234440"/>
            <a:ext cx="2743200" cy="502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81344" y="129844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$6.15T</a:t>
            </a:r>
            <a:endParaRPr lang="en-US" sz="2800"/>
          </a:p>
        </p:txBody>
      </p:sp>
      <p:sp>
        <p:nvSpPr>
          <p:cNvPr id="20" name="Text 18"/>
          <p:cNvSpPr/>
          <p:nvPr/>
        </p:nvSpPr>
        <p:spPr>
          <a:xfrm>
            <a:off x="6181344" y="17373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BFSI IT spending 2026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6181344" y="198424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10.8% YoY growth</a:t>
            </a:r>
            <a:endParaRPr lang="en-US" sz="900"/>
          </a:p>
        </p:txBody>
      </p:sp>
      <p:sp>
        <p:nvSpPr>
          <p:cNvPr id="22" name="Text 20"/>
          <p:cNvSpPr/>
          <p:nvPr/>
        </p:nvSpPr>
        <p:spPr>
          <a:xfrm>
            <a:off x="274320" y="2377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900"/>
          </a:p>
        </p:txBody>
      </p:sp>
      <p:sp>
        <p:nvSpPr>
          <p:cNvPr id="23" name="Shape 21"/>
          <p:cNvSpPr/>
          <p:nvPr/>
        </p:nvSpPr>
        <p:spPr>
          <a:xfrm>
            <a:off x="274320" y="2715768"/>
            <a:ext cx="118872" cy="1188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26791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real-time (&lt;50ms)</a:t>
            </a:r>
            <a:endParaRPr lang="en-US" sz="1200"/>
          </a:p>
        </p:txBody>
      </p:sp>
      <p:sp>
        <p:nvSpPr>
          <p:cNvPr id="44" name="Text 44"/>
          <p:cNvSpPr/>
          <p:nvPr/>
        </p:nvSpPr>
        <p:spPr>
          <a:xfrm>
            <a:off x="475488" y="43591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reporting &amp; compliance (NHNN)</a:t>
            </a:r>
            <a:endParaRPr lang="en-US" sz="1200"/>
          </a:p>
        </p:txBody>
      </p:sp>
      <p:sp>
        <p:nvSpPr>
          <p:cNvPr id="25" name="Shape 23"/>
          <p:cNvSpPr/>
          <p:nvPr/>
        </p:nvSpPr>
        <p:spPr>
          <a:xfrm>
            <a:off x="274320" y="3099816"/>
            <a:ext cx="118872" cy="1188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0151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/ AML document processing</a:t>
            </a:r>
            <a:endParaRPr lang="en-US" sz="1200"/>
          </a:p>
        </p:txBody>
      </p:sp>
      <p:sp>
        <p:nvSpPr>
          <p:cNvPr id="27" name="Shape 25"/>
          <p:cNvSpPr/>
          <p:nvPr/>
        </p:nvSpPr>
        <p:spPr>
          <a:xfrm>
            <a:off x="274320" y="3483864"/>
            <a:ext cx="118872" cy="1188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33511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intelligence &amp; compliance</a:t>
            </a:r>
            <a:endParaRPr lang="en-US" sz="1200"/>
          </a:p>
        </p:txBody>
      </p:sp>
      <p:sp>
        <p:nvSpPr>
          <p:cNvPr id="29" name="Shape 27"/>
          <p:cNvSpPr/>
          <p:nvPr/>
        </p:nvSpPr>
        <p:spPr>
          <a:xfrm>
            <a:off x="274320" y="3867912"/>
            <a:ext cx="118872" cy="1188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36871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advisory bot (wealth mgmt)</a:t>
            </a:r>
            <a:endParaRPr lang="en-US" sz="1200"/>
          </a:p>
        </p:txBody>
      </p:sp>
      <p:sp>
        <p:nvSpPr>
          <p:cNvPr id="31" name="Shape 29"/>
          <p:cNvSpPr/>
          <p:nvPr/>
        </p:nvSpPr>
        <p:spPr>
          <a:xfrm>
            <a:off x="274320" y="4251960"/>
            <a:ext cx="118872" cy="1188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40231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scoring với NLP</a:t>
            </a:r>
            <a:endParaRPr lang="en-US" sz="1200"/>
          </a:p>
        </p:txBody>
      </p:sp>
      <p:sp>
        <p:nvSpPr>
          <p:cNvPr id="33" name="Text 31"/>
          <p:cNvSpPr/>
          <p:nvPr/>
        </p:nvSpPr>
        <p:spPr>
          <a:xfrm>
            <a:off x="4663440" y="23774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BẮT BUỘC PHẢI DÙNG DEDICATED</a:t>
            </a:r>
            <a:endParaRPr lang="en-US" sz="900"/>
          </a:p>
        </p:txBody>
      </p:sp>
      <p:sp>
        <p:nvSpPr>
          <p:cNvPr id="34" name="Shape 32"/>
          <p:cNvSpPr/>
          <p:nvPr/>
        </p:nvSpPr>
        <p:spPr>
          <a:xfrm>
            <a:off x="4663440" y="2715768"/>
            <a:ext cx="4160520" cy="457200"/>
          </a:xfrm>
          <a:prstGeom prst="rect">
            <a:avLst/>
          </a:prstGeom>
          <a:solidFill>
            <a:srgbClr val="E6F1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271576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Data isolation — luật bắt buộc, không negotiate được</a:t>
            </a:r>
            <a:endParaRPr lang="en-US" sz="1150"/>
          </a:p>
        </p:txBody>
      </p:sp>
      <p:sp>
        <p:nvSpPr>
          <p:cNvPr id="36" name="Shape 34"/>
          <p:cNvSpPr/>
          <p:nvPr/>
        </p:nvSpPr>
        <p:spPr>
          <a:xfrm>
            <a:off x="4663440" y="3264408"/>
            <a:ext cx="4160520" cy="457200"/>
          </a:xfrm>
          <a:prstGeom prst="rect">
            <a:avLst/>
          </a:prstGeom>
          <a:solidFill>
            <a:srgbClr val="E6F1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326440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Latency p99 &lt;100ms — fraud detection không thể spike</a:t>
            </a:r>
            <a:endParaRPr lang="en-US" sz="1150"/>
          </a:p>
        </p:txBody>
      </p:sp>
      <p:sp>
        <p:nvSpPr>
          <p:cNvPr id="38" name="Shape 36"/>
          <p:cNvSpPr/>
          <p:nvPr/>
        </p:nvSpPr>
        <p:spPr>
          <a:xfrm>
            <a:off x="4663440" y="3813048"/>
            <a:ext cx="4160520" cy="457200"/>
          </a:xfrm>
          <a:prstGeom prst="rect">
            <a:avLst/>
          </a:prstGeom>
          <a:solidFill>
            <a:srgbClr val="E6F1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81304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Audit trail đầy đủ cho ngân hàng trung ương</a:t>
            </a:r>
            <a:endParaRPr lang="en-US" sz="1150"/>
          </a:p>
        </p:txBody>
      </p:sp>
      <p:sp>
        <p:nvSpPr>
          <p:cNvPr id="40" name="Shape 38"/>
          <p:cNvSpPr/>
          <p:nvPr/>
        </p:nvSpPr>
        <p:spPr>
          <a:xfrm>
            <a:off x="4663440" y="4361688"/>
            <a:ext cx="4160520" cy="457200"/>
          </a:xfrm>
          <a:prstGeom prst="rect">
            <a:avLst/>
          </a:prstGeom>
          <a:solidFill>
            <a:srgbClr val="E6F1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436168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SOC2, GDPR, HIPAA — shared endpoint bị legal veto</a:t>
            </a:r>
            <a:endParaRPr lang="en-US" sz="1150"/>
          </a:p>
        </p:txBody>
      </p:sp>
      <p:sp>
        <p:nvSpPr>
          <p:cNvPr id="42" name="Shape 40"/>
          <p:cNvSpPr/>
          <p:nvPr/>
        </p:nvSpPr>
        <p:spPr>
          <a:xfrm>
            <a:off x="274320" y="4736592"/>
            <a:ext cx="8595360" cy="274320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73659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potential: $1M–$20M+   |   Sales cycle: 6–18 tháng   |   Decision maker: CTO + CISO + Legal</a:t>
            </a:r>
            <a:endParaRPr lang="en-US" sz="10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73152"/>
            <a:ext cx="45720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818CF8"/>
                </a:solidFill>
                <a:latin typeface="Calibri"/>
                <a:ea typeface="Calibri"/>
                <a:cs typeface="Calibri"/>
              </a:rPr>
              <a:t>#2 — MID-MARKET TECH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182880" y="393192"/>
            <a:ext cx="73152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B2B2C Software </a:t>
            </a:r>
            <a:r>
              <a:rPr lang="en-US" sz="26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có</a:t>
            </a: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LLM feature </a:t>
            </a:r>
            <a:r>
              <a:rPr lang="en-US" sz="26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trong</a:t>
            </a: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production</a:t>
            </a:r>
            <a:endParaRPr lang="en-US" sz="2600"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182880" y="82296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TARGET · Technical buyer · Outgrow shared endpoint · Rate limit hit production</a:t>
            </a:r>
            <a:endParaRPr lang="en-US" sz="105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34440"/>
            <a:ext cx="2743200" cy="5029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29844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200M+</a:t>
            </a:r>
            <a:endParaRPr lang="en-US" sz="2800"/>
          </a:p>
        </p:txBody>
      </p:sp>
      <p:sp>
        <p:nvSpPr>
          <p:cNvPr id="10" name="Text 8"/>
          <p:cNvSpPr/>
          <p:nvPr/>
        </p:nvSpPr>
        <p:spPr>
          <a:xfrm>
            <a:off x="274320" y="173736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Token/ngày khi hit dedicated tier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274320" y="2029968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Tăng 30%/tháng</a:t>
            </a:r>
            <a:endParaRPr lang="en-US" sz="900"/>
          </a:p>
        </p:txBody>
      </p:sp>
      <p:sp>
        <p:nvSpPr>
          <p:cNvPr id="12" name="Shape 10"/>
          <p:cNvSpPr/>
          <p:nvPr/>
        </p:nvSpPr>
        <p:spPr>
          <a:xfrm>
            <a:off x="3227832" y="1234440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27832" y="1234440"/>
            <a:ext cx="2743200" cy="5029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27832" y="129844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provider</a:t>
            </a:r>
            <a:endParaRPr lang="en-US" sz="2800"/>
          </a:p>
        </p:txBody>
      </p:sp>
      <p:sp>
        <p:nvSpPr>
          <p:cNvPr id="15" name="Text 13"/>
          <p:cNvSpPr/>
          <p:nvPr/>
        </p:nvSpPr>
        <p:spPr>
          <a:xfrm>
            <a:off x="3227832" y="1737360"/>
            <a:ext cx="2743200" cy="310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00" b="1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Số</a:t>
            </a:r>
            <a:r>
              <a:rPr lang="en-US" sz="10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Inference provider </a:t>
            </a:r>
            <a:r>
              <a:rPr lang="en-US" sz="1000" b="1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sử</a:t>
            </a:r>
            <a:r>
              <a:rPr lang="en-US" sz="10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00" b="1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dụng</a:t>
            </a:r>
            <a:r>
              <a:rPr lang="en-US" sz="10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00" b="1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trung</a:t>
            </a:r>
            <a:r>
              <a:rPr lang="en-US" sz="10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00" b="1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bình</a:t>
            </a:r>
            <a:endParaRPr lang="en-US" err="1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27832" y="2029968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debt tích lũy</a:t>
            </a:r>
            <a:endParaRPr lang="en-US" sz="900"/>
          </a:p>
        </p:txBody>
      </p:sp>
      <p:sp>
        <p:nvSpPr>
          <p:cNvPr id="17" name="Shape 15"/>
          <p:cNvSpPr/>
          <p:nvPr/>
        </p:nvSpPr>
        <p:spPr>
          <a:xfrm>
            <a:off x="6181344" y="1234440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81344" y="1234440"/>
            <a:ext cx="2743200" cy="5029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81344" y="129844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2–6 tuần</a:t>
            </a:r>
            <a:endParaRPr lang="en-US" sz="2800"/>
          </a:p>
        </p:txBody>
      </p:sp>
      <p:sp>
        <p:nvSpPr>
          <p:cNvPr id="20" name="Text 18"/>
          <p:cNvSpPr/>
          <p:nvPr/>
        </p:nvSpPr>
        <p:spPr>
          <a:xfrm>
            <a:off x="6181344" y="173736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cycle (ngắn nhất trong 4 nhóm)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6181344" y="2029968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PLG → benchmark → upgrade</a:t>
            </a:r>
            <a:endParaRPr lang="en-US" sz="900"/>
          </a:p>
        </p:txBody>
      </p:sp>
      <p:sp>
        <p:nvSpPr>
          <p:cNvPr id="22" name="Text 20"/>
          <p:cNvSpPr/>
          <p:nvPr/>
        </p:nvSpPr>
        <p:spPr>
          <a:xfrm>
            <a:off x="274320" y="2377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TRIGGER</a:t>
            </a:r>
            <a:endParaRPr lang="en-US" sz="900"/>
          </a:p>
        </p:txBody>
      </p:sp>
      <p:sp>
        <p:nvSpPr>
          <p:cNvPr id="23" name="Shape 21"/>
          <p:cNvSpPr/>
          <p:nvPr/>
        </p:nvSpPr>
        <p:spPr>
          <a:xfrm>
            <a:off x="274320" y="2715768"/>
            <a:ext cx="118872" cy="118872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26791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 limit → feature down cho toàn bộ customer</a:t>
            </a:r>
            <a:endParaRPr lang="en-US" sz="1200"/>
          </a:p>
        </p:txBody>
      </p:sp>
      <p:sp>
        <p:nvSpPr>
          <p:cNvPr id="25" name="Shape 23"/>
          <p:cNvSpPr/>
          <p:nvPr/>
        </p:nvSpPr>
        <p:spPr>
          <a:xfrm>
            <a:off x="274320" y="3099816"/>
            <a:ext cx="118872" cy="118872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063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latency tăng 3x → enterprise customer complain</a:t>
            </a:r>
            <a:endParaRPr lang="en-US" sz="1200"/>
          </a:p>
        </p:txBody>
      </p:sp>
      <p:sp>
        <p:nvSpPr>
          <p:cNvPr id="27" name="Shape 25"/>
          <p:cNvSpPr/>
          <p:nvPr/>
        </p:nvSpPr>
        <p:spPr>
          <a:xfrm>
            <a:off x="274320" y="3483864"/>
            <a:ext cx="118872" cy="118872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34472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âm → cần giảm cost/token 30–40%</a:t>
            </a:r>
            <a:endParaRPr lang="en-US" sz="1200"/>
          </a:p>
        </p:txBody>
      </p:sp>
      <p:sp>
        <p:nvSpPr>
          <p:cNvPr id="29" name="Shape 27"/>
          <p:cNvSpPr/>
          <p:nvPr/>
        </p:nvSpPr>
        <p:spPr>
          <a:xfrm>
            <a:off x="274320" y="3867912"/>
            <a:ext cx="118872" cy="118872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383133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customer hỏi về data isolation policy</a:t>
            </a:r>
            <a:endParaRPr lang="en-US" sz="1200"/>
          </a:p>
        </p:txBody>
      </p:sp>
      <p:sp>
        <p:nvSpPr>
          <p:cNvPr id="31" name="Shape 29"/>
          <p:cNvSpPr/>
          <p:nvPr/>
        </p:nvSpPr>
        <p:spPr>
          <a:xfrm>
            <a:off x="274320" y="4251960"/>
            <a:ext cx="118872" cy="118872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421538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Muốn fine-tune model trên customer data (upsell)</a:t>
            </a:r>
            <a:endParaRPr lang="en-US" sz="1200"/>
          </a:p>
        </p:txBody>
      </p:sp>
      <p:sp>
        <p:nvSpPr>
          <p:cNvPr id="33" name="Text 31"/>
          <p:cNvSpPr/>
          <p:nvPr/>
        </p:nvSpPr>
        <p:spPr>
          <a:xfrm>
            <a:off x="4663440" y="23774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HỌ MUA — PLG MOTION</a:t>
            </a:r>
            <a:endParaRPr lang="en-US" sz="900"/>
          </a:p>
        </p:txBody>
      </p:sp>
      <p:sp>
        <p:nvSpPr>
          <p:cNvPr id="34" name="Shape 32"/>
          <p:cNvSpPr/>
          <p:nvPr/>
        </p:nvSpPr>
        <p:spPr>
          <a:xfrm>
            <a:off x="4663440" y="2715768"/>
            <a:ext cx="320040" cy="320040"/>
          </a:xfrm>
          <a:prstGeom prst="ellipse">
            <a:avLst/>
          </a:prstGeom>
          <a:solidFill>
            <a:srgbClr val="E0E7FF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27157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/>
          </a:p>
        </p:txBody>
      </p:sp>
      <p:sp>
        <p:nvSpPr>
          <p:cNvPr id="36" name="Text 34"/>
          <p:cNvSpPr/>
          <p:nvPr/>
        </p:nvSpPr>
        <p:spPr>
          <a:xfrm>
            <a:off x="5074920" y="27157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shared endpoint tự serve</a:t>
            </a:r>
            <a:endParaRPr lang="en-US" sz="1200"/>
          </a:p>
        </p:txBody>
      </p:sp>
      <p:sp>
        <p:nvSpPr>
          <p:cNvPr id="37" name="Shape 35"/>
          <p:cNvSpPr/>
          <p:nvPr/>
        </p:nvSpPr>
        <p:spPr>
          <a:xfrm>
            <a:off x="4800600" y="3035808"/>
            <a:ext cx="18288" cy="192024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3218688"/>
            <a:ext cx="320040" cy="320040"/>
          </a:xfrm>
          <a:prstGeom prst="ellipse">
            <a:avLst/>
          </a:prstGeom>
          <a:solidFill>
            <a:srgbClr val="E0E7FF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32186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/>
          </a:p>
        </p:txBody>
      </p:sp>
      <p:sp>
        <p:nvSpPr>
          <p:cNvPr id="40" name="Text 38"/>
          <p:cNvSpPr/>
          <p:nvPr/>
        </p:nvSpPr>
        <p:spPr>
          <a:xfrm>
            <a:off x="5074920" y="32186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đến rate limit → pain rõ ràng</a:t>
            </a:r>
            <a:endParaRPr lang="en-US" sz="1200"/>
          </a:p>
        </p:txBody>
      </p:sp>
      <p:sp>
        <p:nvSpPr>
          <p:cNvPr id="41" name="Shape 39"/>
          <p:cNvSpPr/>
          <p:nvPr/>
        </p:nvSpPr>
        <p:spPr>
          <a:xfrm>
            <a:off x="4800600" y="3538728"/>
            <a:ext cx="18288" cy="192024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3721608"/>
            <a:ext cx="320040" cy="320040"/>
          </a:xfrm>
          <a:prstGeom prst="ellipse">
            <a:avLst/>
          </a:prstGeom>
          <a:solidFill>
            <a:srgbClr val="C7D2FE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37216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/>
          </a:p>
        </p:txBody>
      </p:sp>
      <p:sp>
        <p:nvSpPr>
          <p:cNvPr id="44" name="Text 42"/>
          <p:cNvSpPr/>
          <p:nvPr/>
        </p:nvSpPr>
        <p:spPr>
          <a:xfrm>
            <a:off x="5074920" y="37216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benchmark vs Fireworks/Together</a:t>
            </a:r>
            <a:endParaRPr lang="en-US" sz="1200"/>
          </a:p>
        </p:txBody>
      </p:sp>
      <p:sp>
        <p:nvSpPr>
          <p:cNvPr id="45" name="Shape 43"/>
          <p:cNvSpPr/>
          <p:nvPr/>
        </p:nvSpPr>
        <p:spPr>
          <a:xfrm>
            <a:off x="4800600" y="4041648"/>
            <a:ext cx="18288" cy="192024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63440" y="4224528"/>
            <a:ext cx="320040" cy="320040"/>
          </a:xfrm>
          <a:prstGeom prst="ellipse">
            <a:avLst/>
          </a:prstGeom>
          <a:solidFill>
            <a:srgbClr val="C7D2FE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42245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/>
          </a:p>
        </p:txBody>
      </p:sp>
      <p:sp>
        <p:nvSpPr>
          <p:cNvPr id="48" name="Text 46"/>
          <p:cNvSpPr/>
          <p:nvPr/>
        </p:nvSpPr>
        <p:spPr>
          <a:xfrm>
            <a:off x="5074920" y="42245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dedicated trial 1 tuần</a:t>
            </a:r>
            <a:endParaRPr lang="en-US" sz="1200"/>
          </a:p>
        </p:txBody>
      </p:sp>
      <p:sp>
        <p:nvSpPr>
          <p:cNvPr id="49" name="Shape 47"/>
          <p:cNvSpPr/>
          <p:nvPr/>
        </p:nvSpPr>
        <p:spPr>
          <a:xfrm>
            <a:off x="4800600" y="4544568"/>
            <a:ext cx="18288" cy="192024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63440" y="4727448"/>
            <a:ext cx="320040" cy="32004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63440" y="47274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/>
          </a:p>
        </p:txBody>
      </p:sp>
      <p:sp>
        <p:nvSpPr>
          <p:cNvPr id="52" name="Text 50"/>
          <p:cNvSpPr/>
          <p:nvPr/>
        </p:nvSpPr>
        <p:spPr>
          <a:xfrm>
            <a:off x="5074920" y="47274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Ký nếu p99 tốt hơn 20%+</a:t>
            </a:r>
            <a:endParaRPr lang="en-US" sz="1200"/>
          </a:p>
        </p:txBody>
      </p:sp>
      <p:sp>
        <p:nvSpPr>
          <p:cNvPr id="53" name="Shape 51"/>
          <p:cNvSpPr/>
          <p:nvPr/>
        </p:nvSpPr>
        <p:spPr>
          <a:xfrm>
            <a:off x="274320" y="4736592"/>
            <a:ext cx="8595360" cy="274320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473659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potential: $200K–$5M   |   Sales cycle: 2–6 tuần   |   Decision maker: VP Eng / CTO</a:t>
            </a:r>
            <a:endParaRPr lang="en-US" sz="10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73152"/>
            <a:ext cx="54864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#3 — RETAIL CHAIN &amp; E-COMMERCE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182880" y="393192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Chuỗi bán lẻ &amp; E-commerce lớn</a:t>
            </a:r>
            <a:endParaRPr lang="en-US" sz="2600"/>
          </a:p>
        </p:txBody>
      </p:sp>
      <p:sp>
        <p:nvSpPr>
          <p:cNvPr id="6" name="Text 4"/>
          <p:cNvSpPr/>
          <p:nvPr/>
        </p:nvSpPr>
        <p:spPr>
          <a:xfrm>
            <a:off x="182880" y="82296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TARGET · Volume 24/7 · ROI đo được ngay · Peak season là bài toán sống còn</a:t>
            </a:r>
            <a:endParaRPr lang="en-US" sz="105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34440"/>
            <a:ext cx="274320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29844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2800"/>
          </a:p>
        </p:txBody>
      </p:sp>
      <p:sp>
        <p:nvSpPr>
          <p:cNvPr id="10" name="Text 8"/>
          <p:cNvSpPr/>
          <p:nvPr/>
        </p:nvSpPr>
        <p:spPr>
          <a:xfrm>
            <a:off x="274320" y="173736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thu e-comm từ AI recommendations (2025)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274320" y="2029968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Introl / McKinsey</a:t>
            </a:r>
            <a:endParaRPr lang="en-US" sz="900"/>
          </a:p>
        </p:txBody>
      </p:sp>
      <p:sp>
        <p:nvSpPr>
          <p:cNvPr id="12" name="Shape 10"/>
          <p:cNvSpPr/>
          <p:nvPr/>
        </p:nvSpPr>
        <p:spPr>
          <a:xfrm>
            <a:off x="3227832" y="1234440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27832" y="1234440"/>
            <a:ext cx="274320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27832" y="129844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20–30%</a:t>
            </a:r>
            <a:endParaRPr lang="en-US" sz="2800"/>
          </a:p>
        </p:txBody>
      </p:sp>
      <p:sp>
        <p:nvSpPr>
          <p:cNvPr id="15" name="Text 13"/>
          <p:cNvSpPr/>
          <p:nvPr/>
        </p:nvSpPr>
        <p:spPr>
          <a:xfrm>
            <a:off x="3227832" y="173736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tồn kho với AI demand forecasting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3227832" y="2029968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estimate</a:t>
            </a:r>
            <a:endParaRPr lang="en-US" sz="900"/>
          </a:p>
        </p:txBody>
      </p:sp>
      <p:sp>
        <p:nvSpPr>
          <p:cNvPr id="17" name="Shape 15"/>
          <p:cNvSpPr/>
          <p:nvPr/>
        </p:nvSpPr>
        <p:spPr>
          <a:xfrm>
            <a:off x="6181344" y="1234440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81344" y="1234440"/>
            <a:ext cx="274320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81344" y="129844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</a:t>
            </a:r>
            <a:endParaRPr lang="en-US" sz="2800"/>
          </a:p>
        </p:txBody>
      </p:sp>
      <p:sp>
        <p:nvSpPr>
          <p:cNvPr id="20" name="Text 18"/>
          <p:cNvSpPr/>
          <p:nvPr/>
        </p:nvSpPr>
        <p:spPr>
          <a:xfrm>
            <a:off x="6181344" y="173736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tăng peak season (11/11, Tết)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6181344" y="2029968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endpoint không cover được</a:t>
            </a:r>
            <a:endParaRPr lang="en-US" sz="900"/>
          </a:p>
        </p:txBody>
      </p:sp>
      <p:sp>
        <p:nvSpPr>
          <p:cNvPr id="22" name="Text 20"/>
          <p:cNvSpPr/>
          <p:nvPr/>
        </p:nvSpPr>
        <p:spPr>
          <a:xfrm>
            <a:off x="274320" y="2377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900"/>
          </a:p>
        </p:txBody>
      </p:sp>
      <p:sp>
        <p:nvSpPr>
          <p:cNvPr id="23" name="Shape 21"/>
          <p:cNvSpPr/>
          <p:nvPr/>
        </p:nvSpPr>
        <p:spPr>
          <a:xfrm>
            <a:off x="274320" y="2715768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26791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SKU-level (4h cập nhật)</a:t>
            </a:r>
            <a:endParaRPr lang="en-US" sz="1200"/>
          </a:p>
        </p:txBody>
      </p:sp>
      <p:sp>
        <p:nvSpPr>
          <p:cNvPr id="44" name="Text 44"/>
          <p:cNvSpPr/>
          <p:nvPr/>
        </p:nvSpPr>
        <p:spPr>
          <a:xfrm>
            <a:off x="475488" y="43591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search (image-based product search)</a:t>
            </a:r>
            <a:endParaRPr lang="en-US" sz="1200"/>
          </a:p>
        </p:txBody>
      </p:sp>
      <p:sp>
        <p:nvSpPr>
          <p:cNvPr id="25" name="Shape 23"/>
          <p:cNvSpPr/>
          <p:nvPr/>
        </p:nvSpPr>
        <p:spPr>
          <a:xfrm>
            <a:off x="274320" y="3099816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0151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recommendation real-time</a:t>
            </a:r>
            <a:endParaRPr lang="en-US" sz="1200"/>
          </a:p>
        </p:txBody>
      </p:sp>
      <p:sp>
        <p:nvSpPr>
          <p:cNvPr id="27" name="Shape 25"/>
          <p:cNvSpPr/>
          <p:nvPr/>
        </p:nvSpPr>
        <p:spPr>
          <a:xfrm>
            <a:off x="274320" y="3483864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33511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 — cập nhật theo phút</a:t>
            </a:r>
            <a:endParaRPr lang="en-US" sz="1200"/>
          </a:p>
        </p:txBody>
      </p:sp>
      <p:sp>
        <p:nvSpPr>
          <p:cNvPr id="29" name="Shape 27"/>
          <p:cNvSpPr/>
          <p:nvPr/>
        </p:nvSpPr>
        <p:spPr>
          <a:xfrm>
            <a:off x="274320" y="386791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36871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CSKH handle peak 50K concurrent</a:t>
            </a:r>
            <a:endParaRPr lang="en-US" sz="1200"/>
          </a:p>
        </p:txBody>
      </p:sp>
      <p:sp>
        <p:nvSpPr>
          <p:cNvPr id="31" name="Shape 29"/>
          <p:cNvSpPr/>
          <p:nvPr/>
        </p:nvSpPr>
        <p:spPr>
          <a:xfrm>
            <a:off x="274320" y="425196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40231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&amp; inventory optimization</a:t>
            </a:r>
            <a:endParaRPr lang="en-US" sz="1200"/>
          </a:p>
        </p:txBody>
      </p:sp>
      <p:sp>
        <p:nvSpPr>
          <p:cNvPr id="33" name="Text 31"/>
          <p:cNvSpPr/>
          <p:nvPr/>
        </p:nvSpPr>
        <p:spPr>
          <a:xfrm>
            <a:off x="4663440" y="23774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TRIGGER THỰC TẾ</a:t>
            </a:r>
            <a:endParaRPr lang="en-US" sz="900"/>
          </a:p>
        </p:txBody>
      </p:sp>
      <p:sp>
        <p:nvSpPr>
          <p:cNvPr id="34" name="Shape 32"/>
          <p:cNvSpPr/>
          <p:nvPr/>
        </p:nvSpPr>
        <p:spPr>
          <a:xfrm>
            <a:off x="4663440" y="2715768"/>
            <a:ext cx="4160520" cy="45720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271576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 Shared endpoint down ngày 11/11 → mất doanh thu ngay</a:t>
            </a:r>
            <a:endParaRPr lang="en-US" sz="1150"/>
          </a:p>
        </p:txBody>
      </p:sp>
      <p:sp>
        <p:nvSpPr>
          <p:cNvPr id="36" name="Shape 34"/>
          <p:cNvSpPr/>
          <p:nvPr/>
        </p:nvSpPr>
        <p:spPr>
          <a:xfrm>
            <a:off x="4663440" y="3264408"/>
            <a:ext cx="4160520" cy="45720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326440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Conversion drop khi recommendation engine lag &gt;200ms</a:t>
            </a:r>
            <a:endParaRPr lang="en-US" sz="1150"/>
          </a:p>
        </p:txBody>
      </p:sp>
      <p:sp>
        <p:nvSpPr>
          <p:cNvPr id="38" name="Shape 36"/>
          <p:cNvSpPr/>
          <p:nvPr/>
        </p:nvSpPr>
        <p:spPr>
          <a:xfrm>
            <a:off x="4663440" y="3813048"/>
            <a:ext cx="4160520" cy="45720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81304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Usage-based bill tăng 4x cuối năm không báo trước</a:t>
            </a:r>
            <a:endParaRPr lang="en-US" sz="1150"/>
          </a:p>
        </p:txBody>
      </p:sp>
      <p:sp>
        <p:nvSpPr>
          <p:cNvPr id="40" name="Shape 38"/>
          <p:cNvSpPr/>
          <p:nvPr/>
        </p:nvSpPr>
        <p:spPr>
          <a:xfrm>
            <a:off x="4663440" y="4361688"/>
            <a:ext cx="4160520" cy="45720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436168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Đối thủ đã deploy AI — CEO áp lực cạnh tranh</a:t>
            </a:r>
            <a:endParaRPr lang="en-US" sz="1150"/>
          </a:p>
        </p:txBody>
      </p:sp>
      <p:sp>
        <p:nvSpPr>
          <p:cNvPr id="42" name="Shape 40"/>
          <p:cNvSpPr/>
          <p:nvPr/>
        </p:nvSpPr>
        <p:spPr>
          <a:xfrm>
            <a:off x="274320" y="4736592"/>
            <a:ext cx="8595360" cy="274320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73659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potential: $500K–$10M   |   Sales cycle: 3–9 tháng   |   Decision maker: CTO + CDO + CFO</a:t>
            </a:r>
            <a:endParaRPr lang="en-US" sz="10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73152"/>
            <a:ext cx="54864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#4 — HEALTHCARE &amp; LIFE SCIENCES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182880" y="393192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Bệnh viện, bảo hiểm y tế &amp; pharma</a:t>
            </a:r>
            <a:endParaRPr lang="en-US" sz="2600"/>
          </a:p>
        </p:txBody>
      </p:sp>
      <p:sp>
        <p:nvSpPr>
          <p:cNvPr id="6" name="Text 4"/>
          <p:cNvSpPr/>
          <p:nvPr/>
        </p:nvSpPr>
        <p:spPr>
          <a:xfrm>
            <a:off x="182880" y="82296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GROWING · CAGR 32.2% · HIPAA mandatory isolation · Shared endpoint = không thể dùng</a:t>
            </a:r>
            <a:endParaRPr lang="en-US" sz="105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34440"/>
            <a:ext cx="2743200" cy="502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29844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32.2%</a:t>
            </a:r>
            <a:endParaRPr lang="en-US" sz="2800"/>
          </a:p>
        </p:txBody>
      </p:sp>
      <p:sp>
        <p:nvSpPr>
          <p:cNvPr id="10" name="Text 8"/>
          <p:cNvSpPr/>
          <p:nvPr/>
        </p:nvSpPr>
        <p:spPr>
          <a:xfrm>
            <a:off x="274320" y="173736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healthcare AI đến 2033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274320" y="2029968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growing segment</a:t>
            </a:r>
            <a:endParaRPr lang="en-US" sz="900"/>
          </a:p>
        </p:txBody>
      </p:sp>
      <p:sp>
        <p:nvSpPr>
          <p:cNvPr id="12" name="Shape 10"/>
          <p:cNvSpPr/>
          <p:nvPr/>
        </p:nvSpPr>
        <p:spPr>
          <a:xfrm>
            <a:off x="3227832" y="1234440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27832" y="1234440"/>
            <a:ext cx="2743200" cy="502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27832" y="129844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$200B</a:t>
            </a:r>
            <a:endParaRPr lang="en-US" sz="2800"/>
          </a:p>
        </p:txBody>
      </p:sp>
      <p:sp>
        <p:nvSpPr>
          <p:cNvPr id="15" name="Text 13"/>
          <p:cNvSpPr/>
          <p:nvPr/>
        </p:nvSpPr>
        <p:spPr>
          <a:xfrm>
            <a:off x="3227832" y="173736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Tiết kiệm tiềm năng/năm toàn ngành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3227832" y="2029968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estimate</a:t>
            </a:r>
            <a:endParaRPr lang="en-US" sz="900"/>
          </a:p>
        </p:txBody>
      </p:sp>
      <p:sp>
        <p:nvSpPr>
          <p:cNvPr id="17" name="Shape 15"/>
          <p:cNvSpPr/>
          <p:nvPr/>
        </p:nvSpPr>
        <p:spPr>
          <a:xfrm>
            <a:off x="6181344" y="1234440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81344" y="1234440"/>
            <a:ext cx="2743200" cy="502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81344" y="129844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2800"/>
          </a:p>
        </p:txBody>
      </p:sp>
      <p:sp>
        <p:nvSpPr>
          <p:cNvPr id="20" name="Text 18"/>
          <p:cNvSpPr/>
          <p:nvPr/>
        </p:nvSpPr>
        <p:spPr>
          <a:xfrm>
            <a:off x="6181344" y="173736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bị loại vòng HIPAA/BAA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6181344" y="2029968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endpoint không pass</a:t>
            </a:r>
            <a:endParaRPr lang="en-US" sz="900"/>
          </a:p>
        </p:txBody>
      </p:sp>
      <p:sp>
        <p:nvSpPr>
          <p:cNvPr id="22" name="Text 20"/>
          <p:cNvSpPr/>
          <p:nvPr/>
        </p:nvSpPr>
        <p:spPr>
          <a:xfrm>
            <a:off x="274320" y="2377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900"/>
          </a:p>
        </p:txBody>
      </p:sp>
      <p:sp>
        <p:nvSpPr>
          <p:cNvPr id="23" name="Shape 21"/>
          <p:cNvSpPr/>
          <p:nvPr/>
        </p:nvSpPr>
        <p:spPr>
          <a:xfrm>
            <a:off x="274320" y="2715768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26791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note summarization (2h/ngày/bác sĩ)</a:t>
            </a:r>
            <a:endParaRPr lang="en-US" sz="1200"/>
          </a:p>
        </p:txBody>
      </p:sp>
      <p:sp>
        <p:nvSpPr>
          <p:cNvPr id="44" name="Text 44"/>
          <p:cNvSpPr/>
          <p:nvPr/>
        </p:nvSpPr>
        <p:spPr>
          <a:xfrm>
            <a:off x="475488" y="43591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transcription (speech-to-text đa ngôn ngữ)</a:t>
            </a:r>
            <a:endParaRPr lang="en-US" sz="1200"/>
          </a:p>
        </p:txBody>
      </p:sp>
      <p:sp>
        <p:nvSpPr>
          <p:cNvPr id="25" name="Shape 23"/>
          <p:cNvSpPr/>
          <p:nvPr/>
        </p:nvSpPr>
        <p:spPr>
          <a:xfrm>
            <a:off x="274320" y="3099816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0151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authorization tự động (-70–80% thủ công)</a:t>
            </a:r>
            <a:endParaRPr lang="en-US" sz="1200"/>
          </a:p>
        </p:txBody>
      </p:sp>
      <p:sp>
        <p:nvSpPr>
          <p:cNvPr id="27" name="Shape 25"/>
          <p:cNvSpPr/>
          <p:nvPr/>
        </p:nvSpPr>
        <p:spPr>
          <a:xfrm>
            <a:off x="274320" y="3483864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33511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coding ICD-10 &amp; billing</a:t>
            </a:r>
            <a:endParaRPr lang="en-US" sz="1200"/>
          </a:p>
        </p:txBody>
      </p:sp>
      <p:sp>
        <p:nvSpPr>
          <p:cNvPr id="29" name="Shape 27"/>
          <p:cNvSpPr/>
          <p:nvPr/>
        </p:nvSpPr>
        <p:spPr>
          <a:xfrm>
            <a:off x="274320" y="386791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36871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triage chatbot 24/7</a:t>
            </a:r>
            <a:endParaRPr lang="en-US" sz="1200"/>
          </a:p>
        </p:txBody>
      </p:sp>
      <p:sp>
        <p:nvSpPr>
          <p:cNvPr id="31" name="Shape 29"/>
          <p:cNvSpPr/>
          <p:nvPr/>
        </p:nvSpPr>
        <p:spPr>
          <a:xfrm>
            <a:off x="274320" y="4251960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40231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interaction check &amp; discovery</a:t>
            </a:r>
            <a:endParaRPr lang="en-US" sz="1200"/>
          </a:p>
        </p:txBody>
      </p:sp>
      <p:sp>
        <p:nvSpPr>
          <p:cNvPr id="33" name="Text 31"/>
          <p:cNvSpPr/>
          <p:nvPr/>
        </p:nvSpPr>
        <p:spPr>
          <a:xfrm>
            <a:off x="4663440" y="23774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DEALBREAKER NGAY VÒNG ĐẦU</a:t>
            </a:r>
            <a:endParaRPr lang="en-US" sz="900"/>
          </a:p>
        </p:txBody>
      </p:sp>
      <p:sp>
        <p:nvSpPr>
          <p:cNvPr id="34" name="Shape 32"/>
          <p:cNvSpPr/>
          <p:nvPr/>
        </p:nvSpPr>
        <p:spPr>
          <a:xfrm>
            <a:off x="4663440" y="2715768"/>
            <a:ext cx="4160520" cy="4572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271576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Không ký được BAA / HIPAA</a:t>
            </a:r>
            <a:endParaRPr lang="en-US" sz="1200"/>
          </a:p>
        </p:txBody>
      </p:sp>
      <p:sp>
        <p:nvSpPr>
          <p:cNvPr id="36" name="Shape 34"/>
          <p:cNvSpPr/>
          <p:nvPr/>
        </p:nvSpPr>
        <p:spPr>
          <a:xfrm>
            <a:off x="4663440" y="3264408"/>
            <a:ext cx="4160520" cy="4572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326440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Data ra khỏi hospital perimeter</a:t>
            </a:r>
            <a:endParaRPr lang="en-US" sz="1200"/>
          </a:p>
        </p:txBody>
      </p:sp>
      <p:sp>
        <p:nvSpPr>
          <p:cNvPr id="38" name="Shape 36"/>
          <p:cNvSpPr/>
          <p:nvPr/>
        </p:nvSpPr>
        <p:spPr>
          <a:xfrm>
            <a:off x="4663440" y="3813048"/>
            <a:ext cx="4160520" cy="4572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81304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Không có dedicated VPC option</a:t>
            </a:r>
            <a:endParaRPr lang="en-US" sz="1200"/>
          </a:p>
        </p:txBody>
      </p:sp>
      <p:sp>
        <p:nvSpPr>
          <p:cNvPr id="40" name="Shape 38"/>
          <p:cNvSpPr/>
          <p:nvPr/>
        </p:nvSpPr>
        <p:spPr>
          <a:xfrm>
            <a:off x="4663440" y="4361688"/>
            <a:ext cx="4160520" cy="4572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436168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Không có clinical validation / accuracy data</a:t>
            </a:r>
            <a:endParaRPr lang="en-US" sz="1200"/>
          </a:p>
        </p:txBody>
      </p:sp>
      <p:sp>
        <p:nvSpPr>
          <p:cNvPr id="42" name="Shape 40"/>
          <p:cNvSpPr/>
          <p:nvPr/>
        </p:nvSpPr>
        <p:spPr>
          <a:xfrm>
            <a:off x="274320" y="4736592"/>
            <a:ext cx="8595360" cy="274320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73659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potential: $500K–$15M   |   Sales cycle: 6–24 tháng   |   Decision maker: CIO + Compliance + CMO</a:t>
            </a:r>
            <a:endParaRPr lang="en-US" sz="10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548640"/>
            <a:ext cx="8229600" cy="4754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Summary</a:t>
            </a:r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7164" y="1170432"/>
            <a:ext cx="1828800" cy="38404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7164" y="11704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 chí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2069116" y="1170432"/>
            <a:ext cx="1645920" cy="3840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69116" y="117043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BFSI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5583056" y="1161502"/>
            <a:ext cx="16459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83056" y="116150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Retail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7346775" y="1170432"/>
            <a:ext cx="164592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46775" y="117043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Healthcare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3824121" y="1161502"/>
            <a:ext cx="1645920" cy="38404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24121" y="116150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Mid-market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167164" y="1572768"/>
            <a:ext cx="1828800" cy="493776"/>
          </a:xfrm>
          <a:prstGeom prst="rect">
            <a:avLst/>
          </a:prstGeom>
          <a:solidFill>
            <a:srgbClr val="1A326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2884" y="1572768"/>
            <a:ext cx="1737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budget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2069116" y="1572768"/>
            <a:ext cx="1645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14836" y="1572768"/>
            <a:ext cx="1554480" cy="4937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Pre-approved </a:t>
            </a:r>
            <a:r>
              <a:rPr lang="en-US" sz="105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hàng</a:t>
            </a: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triệu</a:t>
            </a: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$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583056" y="1563838"/>
            <a:ext cx="1645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28775" y="1563838"/>
            <a:ext cx="1554480" cy="4937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$500K - 10M/</a:t>
            </a:r>
            <a:r>
              <a:rPr lang="en-US" sz="105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năm</a:t>
            </a:r>
            <a:endParaRPr lang="en-US" sz="1050" err="1">
              <a:latin typeface="Calibri"/>
              <a:ea typeface="Calibri"/>
              <a:cs typeface="Calibri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346775" y="1572768"/>
            <a:ext cx="1645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92495" y="1572768"/>
            <a:ext cx="1554480" cy="4937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$500K–15M/</a:t>
            </a:r>
            <a:r>
              <a:rPr lang="en-US" sz="105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năm</a:t>
            </a:r>
            <a:endParaRPr lang="en-US" sz="1050" err="1">
              <a:latin typeface="Calibri"/>
              <a:ea typeface="Calibri"/>
              <a:cs typeface="Calibri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824121" y="1563838"/>
            <a:ext cx="1645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69841" y="1563838"/>
            <a:ext cx="1554480" cy="4937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$200K–5M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67164" y="2084832"/>
            <a:ext cx="1828800" cy="493776"/>
          </a:xfrm>
          <a:prstGeom prst="rect">
            <a:avLst/>
          </a:prstGeom>
          <a:solidFill>
            <a:srgbClr val="1A326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2884" y="2084832"/>
            <a:ext cx="1737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do mua dedicated</a:t>
            </a:r>
            <a:endParaRPr lang="en-US" sz="1050"/>
          </a:p>
        </p:txBody>
      </p:sp>
      <p:sp>
        <p:nvSpPr>
          <p:cNvPr id="26" name="Shape 24"/>
          <p:cNvSpPr/>
          <p:nvPr/>
        </p:nvSpPr>
        <p:spPr>
          <a:xfrm>
            <a:off x="2069116" y="2084832"/>
            <a:ext cx="1645920" cy="493776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14836" y="2084832"/>
            <a:ext cx="1554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bắt buộc</a:t>
            </a:r>
            <a:endParaRPr lang="en-US" sz="1050"/>
          </a:p>
        </p:txBody>
      </p:sp>
      <p:sp>
        <p:nvSpPr>
          <p:cNvPr id="28" name="Shape 26"/>
          <p:cNvSpPr/>
          <p:nvPr/>
        </p:nvSpPr>
        <p:spPr>
          <a:xfrm>
            <a:off x="5583056" y="2075902"/>
            <a:ext cx="1645920" cy="493776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28775" y="2075902"/>
            <a:ext cx="1554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volume + SLA</a:t>
            </a:r>
            <a:endParaRPr lang="en-US" sz="1050"/>
          </a:p>
        </p:txBody>
      </p:sp>
      <p:sp>
        <p:nvSpPr>
          <p:cNvPr id="30" name="Shape 28"/>
          <p:cNvSpPr/>
          <p:nvPr/>
        </p:nvSpPr>
        <p:spPr>
          <a:xfrm>
            <a:off x="7346775" y="2084832"/>
            <a:ext cx="1645920" cy="493776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92495" y="2084832"/>
            <a:ext cx="1554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mandatory</a:t>
            </a:r>
            <a:endParaRPr lang="en-US" sz="1050"/>
          </a:p>
        </p:txBody>
      </p:sp>
      <p:sp>
        <p:nvSpPr>
          <p:cNvPr id="32" name="Shape 30"/>
          <p:cNvSpPr/>
          <p:nvPr/>
        </p:nvSpPr>
        <p:spPr>
          <a:xfrm>
            <a:off x="3824121" y="2075902"/>
            <a:ext cx="1645920" cy="493776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69841" y="2075902"/>
            <a:ext cx="1554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+ scale</a:t>
            </a:r>
            <a:endParaRPr lang="en-US" sz="1050"/>
          </a:p>
        </p:txBody>
      </p:sp>
      <p:sp>
        <p:nvSpPr>
          <p:cNvPr id="34" name="Shape 32"/>
          <p:cNvSpPr/>
          <p:nvPr/>
        </p:nvSpPr>
        <p:spPr>
          <a:xfrm>
            <a:off x="167164" y="2596896"/>
            <a:ext cx="1828800" cy="493776"/>
          </a:xfrm>
          <a:prstGeom prst="rect">
            <a:avLst/>
          </a:prstGeom>
          <a:solidFill>
            <a:srgbClr val="1A326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2884" y="2596896"/>
            <a:ext cx="1737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potential</a:t>
            </a:r>
            <a:endParaRPr lang="en-US" sz="1050"/>
          </a:p>
        </p:txBody>
      </p:sp>
      <p:sp>
        <p:nvSpPr>
          <p:cNvPr id="36" name="Shape 34"/>
          <p:cNvSpPr/>
          <p:nvPr/>
        </p:nvSpPr>
        <p:spPr>
          <a:xfrm>
            <a:off x="2069116" y="2596896"/>
            <a:ext cx="1645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14836" y="2596896"/>
            <a:ext cx="1554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$1M–20M+</a:t>
            </a:r>
            <a:endParaRPr lang="en-US" sz="1050"/>
          </a:p>
        </p:txBody>
      </p:sp>
      <p:sp>
        <p:nvSpPr>
          <p:cNvPr id="38" name="Shape 36"/>
          <p:cNvSpPr/>
          <p:nvPr/>
        </p:nvSpPr>
        <p:spPr>
          <a:xfrm>
            <a:off x="5583056" y="2587966"/>
            <a:ext cx="1645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28775" y="2587966"/>
            <a:ext cx="1554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$500K–10M</a:t>
            </a:r>
            <a:endParaRPr lang="en-US" sz="1050"/>
          </a:p>
        </p:txBody>
      </p:sp>
      <p:sp>
        <p:nvSpPr>
          <p:cNvPr id="40" name="Shape 38"/>
          <p:cNvSpPr/>
          <p:nvPr/>
        </p:nvSpPr>
        <p:spPr>
          <a:xfrm>
            <a:off x="7346775" y="2596896"/>
            <a:ext cx="1645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92495" y="2596896"/>
            <a:ext cx="1554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$500K–15M</a:t>
            </a:r>
            <a:endParaRPr lang="en-US" sz="1050"/>
          </a:p>
        </p:txBody>
      </p:sp>
      <p:sp>
        <p:nvSpPr>
          <p:cNvPr id="42" name="Shape 40"/>
          <p:cNvSpPr/>
          <p:nvPr/>
        </p:nvSpPr>
        <p:spPr>
          <a:xfrm>
            <a:off x="3824121" y="2587966"/>
            <a:ext cx="1645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69841" y="2587966"/>
            <a:ext cx="1554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$200K–5M</a:t>
            </a:r>
            <a:endParaRPr lang="en-US" sz="1050"/>
          </a:p>
        </p:txBody>
      </p:sp>
      <p:sp>
        <p:nvSpPr>
          <p:cNvPr id="44" name="Shape 42"/>
          <p:cNvSpPr/>
          <p:nvPr/>
        </p:nvSpPr>
        <p:spPr>
          <a:xfrm>
            <a:off x="167164" y="3108960"/>
            <a:ext cx="1828800" cy="493776"/>
          </a:xfrm>
          <a:prstGeom prst="rect">
            <a:avLst/>
          </a:prstGeom>
          <a:solidFill>
            <a:srgbClr val="1A326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12884" y="3108960"/>
            <a:ext cx="1737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risk</a:t>
            </a:r>
            <a:endParaRPr lang="en-US" sz="1050"/>
          </a:p>
        </p:txBody>
      </p:sp>
      <p:sp>
        <p:nvSpPr>
          <p:cNvPr id="46" name="Shape 44"/>
          <p:cNvSpPr/>
          <p:nvPr/>
        </p:nvSpPr>
        <p:spPr>
          <a:xfrm>
            <a:off x="2069116" y="3108960"/>
            <a:ext cx="1645920" cy="493776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114836" y="3108960"/>
            <a:ext cx="1554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Thấp — lock in cao</a:t>
            </a:r>
            <a:endParaRPr lang="en-US" sz="1050"/>
          </a:p>
        </p:txBody>
      </p:sp>
      <p:sp>
        <p:nvSpPr>
          <p:cNvPr id="48" name="Shape 46"/>
          <p:cNvSpPr/>
          <p:nvPr/>
        </p:nvSpPr>
        <p:spPr>
          <a:xfrm>
            <a:off x="5583056" y="3100030"/>
            <a:ext cx="1645920" cy="493776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28775" y="3100030"/>
            <a:ext cx="1554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bình</a:t>
            </a:r>
            <a:endParaRPr lang="en-US" sz="1050"/>
          </a:p>
        </p:txBody>
      </p:sp>
      <p:sp>
        <p:nvSpPr>
          <p:cNvPr id="50" name="Shape 48"/>
          <p:cNvSpPr/>
          <p:nvPr/>
        </p:nvSpPr>
        <p:spPr>
          <a:xfrm>
            <a:off x="7346775" y="3108960"/>
            <a:ext cx="1645920" cy="493776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92495" y="3108960"/>
            <a:ext cx="1554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Thấp</a:t>
            </a:r>
            <a:endParaRPr lang="en-US" sz="1050"/>
          </a:p>
        </p:txBody>
      </p:sp>
      <p:sp>
        <p:nvSpPr>
          <p:cNvPr id="52" name="Shape 50"/>
          <p:cNvSpPr/>
          <p:nvPr/>
        </p:nvSpPr>
        <p:spPr>
          <a:xfrm>
            <a:off x="3824121" y="3100030"/>
            <a:ext cx="1645920" cy="493776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869841" y="3100030"/>
            <a:ext cx="1554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bình–cao</a:t>
            </a:r>
            <a:endParaRPr lang="en-US" sz="1050"/>
          </a:p>
        </p:txBody>
      </p:sp>
      <p:sp>
        <p:nvSpPr>
          <p:cNvPr id="54" name="Shape 52"/>
          <p:cNvSpPr/>
          <p:nvPr/>
        </p:nvSpPr>
        <p:spPr>
          <a:xfrm>
            <a:off x="167164" y="3621024"/>
            <a:ext cx="1828800" cy="493776"/>
          </a:xfrm>
          <a:prstGeom prst="rect">
            <a:avLst/>
          </a:prstGeom>
          <a:solidFill>
            <a:srgbClr val="1A326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12884" y="3621024"/>
            <a:ext cx="1737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cycle</a:t>
            </a:r>
            <a:endParaRPr lang="en-US" sz="1050"/>
          </a:p>
        </p:txBody>
      </p:sp>
      <p:sp>
        <p:nvSpPr>
          <p:cNvPr id="56" name="Shape 54"/>
          <p:cNvSpPr/>
          <p:nvPr/>
        </p:nvSpPr>
        <p:spPr>
          <a:xfrm>
            <a:off x="2069116" y="3621024"/>
            <a:ext cx="1645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114836" y="3621024"/>
            <a:ext cx="1554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6–18 tháng</a:t>
            </a:r>
            <a:endParaRPr lang="en-US" sz="1050"/>
          </a:p>
        </p:txBody>
      </p:sp>
      <p:sp>
        <p:nvSpPr>
          <p:cNvPr id="58" name="Shape 56"/>
          <p:cNvSpPr/>
          <p:nvPr/>
        </p:nvSpPr>
        <p:spPr>
          <a:xfrm>
            <a:off x="5583056" y="3612094"/>
            <a:ext cx="1645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628775" y="3612094"/>
            <a:ext cx="1554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3–9 tháng</a:t>
            </a:r>
            <a:endParaRPr lang="en-US" sz="1050"/>
          </a:p>
        </p:txBody>
      </p:sp>
      <p:sp>
        <p:nvSpPr>
          <p:cNvPr id="60" name="Shape 58"/>
          <p:cNvSpPr/>
          <p:nvPr/>
        </p:nvSpPr>
        <p:spPr>
          <a:xfrm>
            <a:off x="7346775" y="3621024"/>
            <a:ext cx="1645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92495" y="3621024"/>
            <a:ext cx="1554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6–24 tháng</a:t>
            </a:r>
            <a:endParaRPr lang="en-US" sz="1050"/>
          </a:p>
        </p:txBody>
      </p:sp>
      <p:sp>
        <p:nvSpPr>
          <p:cNvPr id="62" name="Shape 60"/>
          <p:cNvSpPr/>
          <p:nvPr/>
        </p:nvSpPr>
        <p:spPr>
          <a:xfrm>
            <a:off x="3824121" y="3612094"/>
            <a:ext cx="1645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869841" y="3612094"/>
            <a:ext cx="1554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2–6 tuần</a:t>
            </a:r>
            <a:endParaRPr lang="en-US" sz="1050"/>
          </a:p>
        </p:txBody>
      </p:sp>
      <p:sp>
        <p:nvSpPr>
          <p:cNvPr id="64" name="Shape 62"/>
          <p:cNvSpPr/>
          <p:nvPr/>
        </p:nvSpPr>
        <p:spPr>
          <a:xfrm>
            <a:off x="167164" y="4133088"/>
            <a:ext cx="1828800" cy="493776"/>
          </a:xfrm>
          <a:prstGeom prst="rect">
            <a:avLst/>
          </a:prstGeom>
          <a:solidFill>
            <a:srgbClr val="1A326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12884" y="4133088"/>
            <a:ext cx="1737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motion</a:t>
            </a:r>
            <a:endParaRPr lang="en-US" sz="1050"/>
          </a:p>
        </p:txBody>
      </p:sp>
      <p:sp>
        <p:nvSpPr>
          <p:cNvPr id="66" name="Shape 64"/>
          <p:cNvSpPr/>
          <p:nvPr/>
        </p:nvSpPr>
        <p:spPr>
          <a:xfrm>
            <a:off x="2069116" y="4133088"/>
            <a:ext cx="1645920" cy="493776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114836" y="4133088"/>
            <a:ext cx="1554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+ SI partner</a:t>
            </a:r>
            <a:endParaRPr lang="en-US" sz="1050"/>
          </a:p>
        </p:txBody>
      </p:sp>
      <p:sp>
        <p:nvSpPr>
          <p:cNvPr id="68" name="Shape 66"/>
          <p:cNvSpPr/>
          <p:nvPr/>
        </p:nvSpPr>
        <p:spPr>
          <a:xfrm>
            <a:off x="5583056" y="4124158"/>
            <a:ext cx="1645920" cy="493776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628775" y="4124158"/>
            <a:ext cx="1554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ERP/vertical partner</a:t>
            </a:r>
            <a:endParaRPr lang="en-US" sz="1050"/>
          </a:p>
        </p:txBody>
      </p:sp>
      <p:sp>
        <p:nvSpPr>
          <p:cNvPr id="70" name="Shape 68"/>
          <p:cNvSpPr/>
          <p:nvPr/>
        </p:nvSpPr>
        <p:spPr>
          <a:xfrm>
            <a:off x="7346775" y="4133088"/>
            <a:ext cx="1645920" cy="493776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392495" y="4133088"/>
            <a:ext cx="1554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+ BAA</a:t>
            </a:r>
            <a:endParaRPr lang="en-US" sz="1050"/>
          </a:p>
        </p:txBody>
      </p:sp>
      <p:sp>
        <p:nvSpPr>
          <p:cNvPr id="72" name="Shape 70"/>
          <p:cNvSpPr/>
          <p:nvPr/>
        </p:nvSpPr>
        <p:spPr>
          <a:xfrm>
            <a:off x="3824121" y="4124158"/>
            <a:ext cx="1645920" cy="493776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869841" y="4124158"/>
            <a:ext cx="1554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Product-led</a:t>
            </a:r>
            <a:endParaRPr lang="en-US" sz="10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4F8CFF"/>
                </a:solidFill>
                <a:latin typeface="Arial"/>
              </a:rPr>
              <a:t>TARGET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4124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E8ECF8"/>
                </a:solidFill>
                <a:latin typeface="Arial"/>
              </a:rPr>
              <a:t>Tập trung 2 nhóm: BFSI và Mid-market 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892B6"/>
                </a:solidFill>
                <a:latin typeface="Arial"/>
              </a:rPr>
              <a:t>Bổ trợ nhau hoàn hảo: BFSI cho ARR lớn &amp; lock-in, Tech cho velocity &amp; học sản phẩm nhanh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4069080" cy="324612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 w="9525">
            <a:solidFill>
              <a:srgbClr val="2A3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4069080" cy="54864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E8ECF8"/>
                </a:solidFill>
                <a:latin typeface="Arial"/>
              </a:rPr>
              <a:t>#1 BFSI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4F8CFF"/>
                </a:solidFill>
                <a:latin typeface="Arial"/>
              </a:rPr>
              <a:t>PRIMARY · Enterprise 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892B6"/>
                </a:solidFill>
                <a:latin typeface="Arial"/>
              </a:rPr>
              <a:t>ARR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20" y="237744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E8ECF8"/>
                </a:solidFill>
                <a:latin typeface="Arial"/>
              </a:rPr>
              <a:t>$1M – $20M+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892B6"/>
                </a:solidFill>
                <a:latin typeface="Arial"/>
              </a:rPr>
              <a:t>Sales cycle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20" y="26974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E8ECF8"/>
                </a:solidFill>
                <a:latin typeface="Arial"/>
              </a:rPr>
              <a:t>6 – 18 tháng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17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892B6"/>
                </a:solidFill>
                <a:latin typeface="Arial"/>
              </a:rPr>
              <a:t>Decision maker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20" y="301752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E8ECF8"/>
                </a:solidFill>
                <a:latin typeface="Arial"/>
              </a:rPr>
              <a:t>CTO + CISO + Legal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4290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4F8CFF"/>
                </a:solidFill>
                <a:latin typeface="Arial"/>
              </a:rPr>
              <a:t>TẠI SAO CHỌN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703320"/>
            <a:ext cx="365760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E8ECF8"/>
                </a:solidFill>
                <a:latin typeface="Arial"/>
              </a:rPr>
              <a:t>•  Compliance </a:t>
            </a:r>
            <a:r>
              <a:rPr sz="1000" b="0" err="1">
                <a:solidFill>
                  <a:srgbClr val="E8ECF8"/>
                </a:solidFill>
                <a:latin typeface="Arial"/>
              </a:rPr>
              <a:t>bắt</a:t>
            </a:r>
            <a:r>
              <a:rPr sz="1000" b="0">
                <a:solidFill>
                  <a:srgbClr val="E8ECF8"/>
                </a:solidFill>
                <a:latin typeface="Arial"/>
              </a:rPr>
              <a:t> </a:t>
            </a:r>
            <a:r>
              <a:rPr sz="1000" b="0" err="1">
                <a:solidFill>
                  <a:srgbClr val="E8ECF8"/>
                </a:solidFill>
                <a:latin typeface="Arial"/>
              </a:rPr>
              <a:t>buộc</a:t>
            </a:r>
            <a:r>
              <a:rPr sz="1000" b="0">
                <a:solidFill>
                  <a:srgbClr val="E8ECF8"/>
                </a:solidFill>
                <a:latin typeface="Arial"/>
              </a:rPr>
              <a:t> </a:t>
            </a:r>
            <a:r>
              <a:rPr sz="1000" b="0" err="1">
                <a:solidFill>
                  <a:srgbClr val="E8ECF8"/>
                </a:solidFill>
                <a:latin typeface="Arial"/>
              </a:rPr>
              <a:t>dùng</a:t>
            </a:r>
            <a:r>
              <a:rPr sz="1000" b="0">
                <a:solidFill>
                  <a:srgbClr val="E8ECF8"/>
                </a:solidFill>
                <a:latin typeface="Arial"/>
              </a:rPr>
              <a:t> dedicated (SOC2, GDPR)</a:t>
            </a:r>
          </a:p>
          <a:p>
            <a:pPr algn="l"/>
            <a:r>
              <a:rPr sz="1000" b="0">
                <a:solidFill>
                  <a:srgbClr val="E8ECF8"/>
                </a:solidFill>
                <a:latin typeface="Arial"/>
              </a:rPr>
              <a:t>•  Budget IT </a:t>
            </a:r>
            <a:r>
              <a:rPr sz="1000" b="0" err="1">
                <a:solidFill>
                  <a:srgbClr val="E8ECF8"/>
                </a:solidFill>
                <a:latin typeface="Arial"/>
              </a:rPr>
              <a:t>đã</a:t>
            </a:r>
            <a:r>
              <a:rPr sz="1000" b="0">
                <a:solidFill>
                  <a:srgbClr val="E8ECF8"/>
                </a:solidFill>
                <a:latin typeface="Arial"/>
              </a:rPr>
              <a:t> pre-approved </a:t>
            </a:r>
            <a:r>
              <a:rPr sz="1000" b="0" err="1">
                <a:solidFill>
                  <a:srgbClr val="E8ECF8"/>
                </a:solidFill>
                <a:latin typeface="Arial"/>
              </a:rPr>
              <a:t>hàng</a:t>
            </a:r>
            <a:r>
              <a:rPr sz="1000" b="0">
                <a:solidFill>
                  <a:srgbClr val="E8ECF8"/>
                </a:solidFill>
                <a:latin typeface="Arial"/>
              </a:rPr>
              <a:t> </a:t>
            </a:r>
            <a:r>
              <a:rPr sz="1000" b="0" err="1">
                <a:solidFill>
                  <a:srgbClr val="E8ECF8"/>
                </a:solidFill>
                <a:latin typeface="Arial"/>
              </a:rPr>
              <a:t>trăm</a:t>
            </a:r>
            <a:r>
              <a:rPr sz="1000" b="0">
                <a:solidFill>
                  <a:srgbClr val="E8ECF8"/>
                </a:solidFill>
                <a:latin typeface="Arial"/>
              </a:rPr>
              <a:t> </a:t>
            </a:r>
            <a:r>
              <a:rPr sz="1000" b="0" err="1">
                <a:solidFill>
                  <a:srgbClr val="E8ECF8"/>
                </a:solidFill>
                <a:latin typeface="Arial"/>
              </a:rPr>
              <a:t>triệu</a:t>
            </a:r>
            <a:r>
              <a:rPr sz="1000" b="0">
                <a:solidFill>
                  <a:srgbClr val="E8ECF8"/>
                </a:solidFill>
                <a:latin typeface="Arial"/>
              </a:rPr>
              <a:t> $</a:t>
            </a:r>
            <a:endParaRPr sz="1000" b="0">
              <a:solidFill>
                <a:srgbClr val="E8ECF8"/>
              </a:solidFill>
              <a:latin typeface="Arial"/>
              <a:cs typeface="Arial"/>
            </a:endParaRPr>
          </a:p>
          <a:p>
            <a:pPr algn="l"/>
            <a:r>
              <a:rPr sz="1000" b="0">
                <a:solidFill>
                  <a:srgbClr val="E8ECF8"/>
                </a:solidFill>
                <a:latin typeface="Arial"/>
              </a:rPr>
              <a:t>•  Lock-in </a:t>
            </a:r>
            <a:r>
              <a:rPr sz="1000" b="0" err="1">
                <a:solidFill>
                  <a:srgbClr val="E8ECF8"/>
                </a:solidFill>
                <a:latin typeface="Arial"/>
              </a:rPr>
              <a:t>cao</a:t>
            </a:r>
            <a:r>
              <a:rPr sz="1000" b="0">
                <a:solidFill>
                  <a:srgbClr val="E8ECF8"/>
                </a:solidFill>
                <a:latin typeface="Arial"/>
              </a:rPr>
              <a:t> → churn </a:t>
            </a:r>
            <a:r>
              <a:rPr sz="1000" b="0" err="1">
                <a:solidFill>
                  <a:srgbClr val="E8ECF8"/>
                </a:solidFill>
                <a:latin typeface="Arial"/>
              </a:rPr>
              <a:t>thấp</a:t>
            </a:r>
            <a:r>
              <a:rPr sz="1000" b="0">
                <a:solidFill>
                  <a:srgbClr val="E8ECF8"/>
                </a:solidFill>
                <a:latin typeface="Arial"/>
              </a:rPr>
              <a:t>, expand </a:t>
            </a:r>
            <a:r>
              <a:rPr sz="1000" b="0" err="1">
                <a:solidFill>
                  <a:srgbClr val="E8ECF8"/>
                </a:solidFill>
                <a:latin typeface="Arial"/>
              </a:rPr>
              <a:t>lớn</a:t>
            </a:r>
            <a:endParaRPr sz="1000" b="0" err="1">
              <a:solidFill>
                <a:srgbClr val="E8ECF8"/>
              </a:solidFill>
              <a:latin typeface="Arial"/>
              <a:cs typeface="Arial"/>
            </a:endParaRPr>
          </a:p>
          <a:p>
            <a:pPr algn="l"/>
            <a:r>
              <a:rPr sz="1000" b="0">
                <a:solidFill>
                  <a:srgbClr val="E8ECF8"/>
                </a:solidFill>
                <a:latin typeface="Arial"/>
              </a:rPr>
              <a:t>•  Lý do </a:t>
            </a:r>
            <a:r>
              <a:rPr sz="1000" b="0" err="1">
                <a:solidFill>
                  <a:srgbClr val="E8ECF8"/>
                </a:solidFill>
                <a:latin typeface="Arial"/>
              </a:rPr>
              <a:t>mua</a:t>
            </a:r>
            <a:r>
              <a:rPr sz="1000" b="0">
                <a:solidFill>
                  <a:srgbClr val="E8ECF8"/>
                </a:solidFill>
                <a:latin typeface="Arial"/>
              </a:rPr>
              <a:t> </a:t>
            </a:r>
            <a:r>
              <a:rPr sz="1000" b="0" err="1">
                <a:solidFill>
                  <a:srgbClr val="E8ECF8"/>
                </a:solidFill>
                <a:latin typeface="Arial"/>
              </a:rPr>
              <a:t>rõ</a:t>
            </a:r>
            <a:r>
              <a:rPr sz="1000" b="0">
                <a:solidFill>
                  <a:srgbClr val="E8ECF8"/>
                </a:solidFill>
                <a:latin typeface="Arial"/>
              </a:rPr>
              <a:t> </a:t>
            </a:r>
            <a:r>
              <a:rPr sz="1000" b="0" err="1">
                <a:solidFill>
                  <a:srgbClr val="E8ECF8"/>
                </a:solidFill>
                <a:latin typeface="Arial"/>
              </a:rPr>
              <a:t>ràng</a:t>
            </a:r>
            <a:r>
              <a:rPr sz="1000" b="0">
                <a:solidFill>
                  <a:srgbClr val="E8ECF8"/>
                </a:solidFill>
                <a:latin typeface="Arial"/>
              </a:rPr>
              <a:t> — </a:t>
            </a:r>
            <a:r>
              <a:rPr sz="1000" b="0" err="1">
                <a:solidFill>
                  <a:srgbClr val="E8ECF8"/>
                </a:solidFill>
                <a:latin typeface="Arial"/>
              </a:rPr>
              <a:t>không</a:t>
            </a:r>
            <a:r>
              <a:rPr sz="1000" b="0">
                <a:solidFill>
                  <a:srgbClr val="E8ECF8"/>
                </a:solidFill>
                <a:latin typeface="Arial"/>
              </a:rPr>
              <a:t> </a:t>
            </a:r>
            <a:r>
              <a:rPr sz="1000" b="0" err="1">
                <a:solidFill>
                  <a:srgbClr val="E8ECF8"/>
                </a:solidFill>
                <a:latin typeface="Arial"/>
              </a:rPr>
              <a:t>phải</a:t>
            </a:r>
            <a:r>
              <a:rPr sz="1000" b="0">
                <a:solidFill>
                  <a:srgbClr val="E8ECF8"/>
                </a:solidFill>
                <a:latin typeface="Arial"/>
              </a:rPr>
              <a:t> educate </a:t>
            </a:r>
            <a:r>
              <a:rPr sz="1000" b="0" err="1">
                <a:solidFill>
                  <a:srgbClr val="E8ECF8"/>
                </a:solidFill>
                <a:latin typeface="Arial"/>
              </a:rPr>
              <a:t>thị</a:t>
            </a:r>
            <a:r>
              <a:rPr sz="1000" b="0">
                <a:solidFill>
                  <a:srgbClr val="E8ECF8"/>
                </a:solidFill>
                <a:latin typeface="Arial"/>
              </a:rPr>
              <a:t> </a:t>
            </a:r>
            <a:r>
              <a:rPr sz="1000" b="0" err="1">
                <a:solidFill>
                  <a:srgbClr val="E8ECF8"/>
                </a:solidFill>
                <a:latin typeface="Arial"/>
              </a:rPr>
              <a:t>trường</a:t>
            </a:r>
            <a:endParaRPr sz="1000" b="0" err="1">
              <a:solidFill>
                <a:srgbClr val="E8ECF8"/>
              </a:solidFill>
              <a:latin typeface="Arial"/>
              <a:cs typeface="Arial"/>
            </a:endParaRPr>
          </a:p>
          <a:p>
            <a:r>
              <a:rPr lang="en-US" sz="1000">
                <a:solidFill>
                  <a:srgbClr val="E8ECF8"/>
                </a:solidFill>
                <a:latin typeface="Arial"/>
                <a:cs typeface="Arial"/>
              </a:rPr>
              <a:t>• FCI </a:t>
            </a:r>
            <a:r>
              <a:rPr lang="en-US" sz="1000" err="1">
                <a:solidFill>
                  <a:srgbClr val="E8ECF8"/>
                </a:solidFill>
                <a:latin typeface="Arial"/>
                <a:cs typeface="Arial"/>
              </a:rPr>
              <a:t>đã</a:t>
            </a:r>
            <a:r>
              <a:rPr lang="en-US" sz="1000">
                <a:solidFill>
                  <a:srgbClr val="E8ECF8"/>
                </a:solidFill>
                <a:latin typeface="Arial"/>
                <a:cs typeface="Arial"/>
              </a:rPr>
              <a:t> </a:t>
            </a:r>
            <a:r>
              <a:rPr lang="en-US" sz="1000" err="1">
                <a:solidFill>
                  <a:srgbClr val="E8ECF8"/>
                </a:solidFill>
                <a:latin typeface="Arial"/>
                <a:cs typeface="Arial"/>
              </a:rPr>
              <a:t>có</a:t>
            </a:r>
            <a:r>
              <a:rPr lang="en-US" sz="1000">
                <a:solidFill>
                  <a:srgbClr val="E8ECF8"/>
                </a:solidFill>
                <a:latin typeface="Arial"/>
                <a:cs typeface="Arial"/>
              </a:rPr>
              <a:t> customer base</a:t>
            </a:r>
            <a:endParaRPr lang="en-US"/>
          </a:p>
          <a:p>
            <a:endParaRPr lang="en-US" sz="1000">
              <a:solidFill>
                <a:srgbClr val="E8ECF8"/>
              </a:solidFill>
              <a:latin typeface="Arial"/>
              <a:cs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617720" y="1417320"/>
            <a:ext cx="4069080" cy="324612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 w="9525">
            <a:solidFill>
              <a:srgbClr val="2A3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17720" y="1417320"/>
            <a:ext cx="4069080" cy="54864"/>
          </a:xfrm>
          <a:prstGeom prst="rect">
            <a:avLst/>
          </a:prstGeom>
          <a:solidFill>
            <a:srgbClr val="22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92040" y="1600200"/>
            <a:ext cx="36576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E8ECF8"/>
                </a:solidFill>
                <a:latin typeface="Arial"/>
              </a:rPr>
              <a:t>#</a:t>
            </a:r>
            <a:r>
              <a:rPr lang="en-US" sz="2200" b="1">
                <a:solidFill>
                  <a:srgbClr val="E8ECF8"/>
                </a:solidFill>
                <a:latin typeface="Arial"/>
              </a:rPr>
              <a:t>2</a:t>
            </a:r>
            <a:r>
              <a:rPr sz="2200" b="1">
                <a:solidFill>
                  <a:srgbClr val="E8ECF8"/>
                </a:solidFill>
                <a:latin typeface="Arial"/>
              </a:rPr>
              <a:t> Mid-market Tech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2011680"/>
            <a:ext cx="3657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000" b="1">
                <a:solidFill>
                  <a:srgbClr val="22D3A8"/>
                </a:solidFill>
                <a:latin typeface="Arial"/>
              </a:rPr>
              <a:t>PRIMARY</a:t>
            </a:r>
            <a:r>
              <a:rPr sz="1000" b="1">
                <a:solidFill>
                  <a:srgbClr val="22D3A8"/>
                </a:solidFill>
                <a:latin typeface="Arial"/>
              </a:rPr>
              <a:t>·</a:t>
            </a:r>
            <a:r>
              <a:rPr lang="en-US" sz="1000" b="1">
                <a:solidFill>
                  <a:srgbClr val="22D3A8"/>
                </a:solidFill>
                <a:latin typeface="Arial"/>
              </a:rPr>
              <a:t> Product-led growth</a:t>
            </a:r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4892040" y="237744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892B6"/>
                </a:solidFill>
                <a:latin typeface="Arial"/>
              </a:rPr>
              <a:t>ARR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237744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E8ECF8"/>
                </a:solidFill>
                <a:latin typeface="Arial"/>
              </a:rPr>
              <a:t>$200K – $5M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269748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892B6"/>
                </a:solidFill>
                <a:latin typeface="Arial"/>
              </a:rPr>
              <a:t>Sales cycle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26974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E8ECF8"/>
                </a:solidFill>
                <a:latin typeface="Arial"/>
              </a:rPr>
              <a:t>2 – 6 tuần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3017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892B6"/>
                </a:solidFill>
                <a:latin typeface="Arial"/>
              </a:rPr>
              <a:t>Decision maker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301752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E8ECF8"/>
                </a:solidFill>
                <a:latin typeface="Arial"/>
              </a:rPr>
              <a:t>VP Eng / CTO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34290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22D3A8"/>
                </a:solidFill>
                <a:latin typeface="Arial"/>
              </a:rPr>
              <a:t>TẠI SAO CHỌN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370332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E8ECF8"/>
                </a:solidFill>
                <a:latin typeface="Arial"/>
              </a:rPr>
              <a:t>•  Sales cycle ngắn nhất — cash-in nhanh</a:t>
            </a:r>
          </a:p>
          <a:p>
            <a:pPr algn="l"/>
            <a:r>
              <a:rPr sz="1000" b="0">
                <a:solidFill>
                  <a:srgbClr val="E8ECF8"/>
                </a:solidFill>
                <a:latin typeface="Arial"/>
              </a:rPr>
              <a:t>•  Tự benchmark, không cần sales-heavy</a:t>
            </a:r>
          </a:p>
          <a:p>
            <a:pPr algn="l"/>
            <a:r>
              <a:rPr sz="1000" b="0">
                <a:solidFill>
                  <a:srgbClr val="E8ECF8"/>
                </a:solidFill>
                <a:latin typeface="Arial"/>
              </a:rPr>
              <a:t>•  Feedback loop nhanh → cải thiện sản phẩm</a:t>
            </a:r>
          </a:p>
          <a:p>
            <a:pPr algn="l"/>
            <a:r>
              <a:rPr sz="1000" b="0">
                <a:solidFill>
                  <a:srgbClr val="E8ECF8"/>
                </a:solidFill>
                <a:latin typeface="Arial"/>
              </a:rPr>
              <a:t>•  Logo SaaS giúp credibility với BFSI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754880"/>
            <a:ext cx="8321040" cy="0"/>
          </a:xfrm>
          <a:prstGeom prst="roundRect">
            <a:avLst>
              <a:gd name="adj" fmla="val 6000"/>
            </a:avLst>
          </a:prstGeom>
          <a:solidFill>
            <a:srgbClr val="1B2340"/>
          </a:solidFill>
          <a:ln w="9525">
            <a:solidFill>
              <a:srgbClr val="2A3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4736592"/>
            <a:ext cx="8321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8892B6"/>
                </a:solidFill>
                <a:latin typeface="Arial"/>
              </a:rPr>
              <a:t>Chiến lược: BFSI mang doanh thu &amp; uy tín, Tech mang tốc độ &amp; sản phẩm tốt hơn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892B6"/>
                </a:solidFill>
                <a:latin typeface="Arial"/>
              </a:rPr>
              <a:t>Target Customer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892B6"/>
                </a:solidFill>
                <a:latin typeface="Arial"/>
              </a:rPr>
              <a:t>10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4F8CFF"/>
                </a:solidFill>
                <a:latin typeface="Arial"/>
              </a:rPr>
              <a:t>USER PERSONA · #1 BFSI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4124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E8ECF8"/>
                </a:solidFill>
                <a:latin typeface="Arial"/>
              </a:rPr>
              <a:t>Minh — Head of AI Platform tại ngân hàng top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3017520" cy="338328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 w="9525">
            <a:solidFill>
              <a:srgbClr val="2A3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463040" y="1508760"/>
            <a:ext cx="1005840" cy="100584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63040" y="150876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E8ECF8"/>
                </a:solidFill>
                <a:latin typeface="Arial"/>
              </a:rPr>
              <a:t>Minh, 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8892B6"/>
                </a:solidFill>
                <a:latin typeface="Arial"/>
              </a:rPr>
              <a:t>Head of AI Platform · Bank top 5 VN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918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892B6"/>
                </a:solidFill>
                <a:latin typeface="Arial"/>
              </a:rPr>
              <a:t>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29184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E8ECF8"/>
                </a:solidFill>
                <a:latin typeface="Arial"/>
              </a:rPr>
              <a:t>30 engineers + 5 data scientists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8444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892B6"/>
                </a:solidFill>
                <a:latin typeface="Arial"/>
              </a:rPr>
              <a:t>Báo cáo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58444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E8ECF8"/>
                </a:solidFill>
                <a:latin typeface="Arial"/>
              </a:rPr>
              <a:t>CTO, dotted-line CISO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7705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892B6"/>
                </a:solidFill>
                <a:latin typeface="Arial"/>
              </a:rPr>
              <a:t>Budget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877056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E8ECF8"/>
                </a:solidFill>
                <a:latin typeface="Arial"/>
              </a:rPr>
              <a:t>Quản lý $4–6M/năm infra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169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892B6"/>
                </a:solidFill>
                <a:latin typeface="Arial"/>
              </a:rPr>
              <a:t>KPI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169664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E8ECF8"/>
                </a:solidFill>
                <a:latin typeface="Arial"/>
              </a:rPr>
              <a:t>Latency p99, audit pass-rate, cost/token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11880" y="1325880"/>
            <a:ext cx="2560320" cy="164592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 w="9525">
            <a:solidFill>
              <a:srgbClr val="2A3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94760" y="143560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2D3A8"/>
                </a:solidFill>
                <a:latin typeface="Arial"/>
              </a:rPr>
              <a:t>GOALS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737360"/>
            <a:ext cx="21945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E8ECF8"/>
                </a:solidFill>
                <a:latin typeface="Arial"/>
              </a:rPr>
              <a:t>•  Triển khai fraud-detection &lt;50ms</a:t>
            </a:r>
          </a:p>
          <a:p>
            <a:pPr algn="l"/>
            <a:r>
              <a:rPr sz="1000" b="0">
                <a:solidFill>
                  <a:srgbClr val="E8ECF8"/>
                </a:solidFill>
                <a:latin typeface="Arial"/>
              </a:rPr>
              <a:t>•  Pass audit của NHNN, SOC2</a:t>
            </a:r>
          </a:p>
          <a:p>
            <a:pPr algn="l"/>
            <a:r>
              <a:rPr sz="1000" b="0">
                <a:solidFill>
                  <a:srgbClr val="E8ECF8"/>
                </a:solidFill>
                <a:latin typeface="Arial"/>
              </a:rPr>
              <a:t>•  Giảm chi phí inference 30%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1325880"/>
            <a:ext cx="2514600" cy="164592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 w="9525">
            <a:solidFill>
              <a:srgbClr val="2A3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1435608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B547"/>
                </a:solidFill>
                <a:latin typeface="Arial"/>
              </a:rPr>
              <a:t>PAINS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1737360"/>
            <a:ext cx="214884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E8ECF8"/>
                </a:solidFill>
                <a:latin typeface="Arial"/>
              </a:rPr>
              <a:t>•  Shared endpoint không ký được BAA</a:t>
            </a:r>
          </a:p>
          <a:p>
            <a:pPr algn="l"/>
            <a:r>
              <a:rPr sz="1000" b="0">
                <a:solidFill>
                  <a:srgbClr val="E8ECF8"/>
                </a:solidFill>
                <a:latin typeface="Arial"/>
              </a:rPr>
              <a:t>•  Latency spike giờ cao điểm</a:t>
            </a:r>
          </a:p>
          <a:p>
            <a:pPr algn="l"/>
            <a:r>
              <a:rPr sz="1000" b="0">
                <a:solidFill>
                  <a:srgbClr val="E8ECF8"/>
                </a:solidFill>
                <a:latin typeface="Arial"/>
              </a:rPr>
              <a:t>•  Vendor lock-in của cloud lớn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11880" y="3017520"/>
            <a:ext cx="2560320" cy="169164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 w="9525">
            <a:solidFill>
              <a:srgbClr val="2A3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794760" y="312724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4F8CFF"/>
                </a:solidFill>
                <a:latin typeface="Arial"/>
              </a:rPr>
              <a:t>BUYING TRIGGERS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42900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E8ECF8"/>
                </a:solidFill>
                <a:latin typeface="Arial"/>
              </a:rPr>
              <a:t>•  RFP hạ tầng AI 2026</a:t>
            </a:r>
          </a:p>
          <a:p>
            <a:pPr algn="l"/>
            <a:r>
              <a:rPr sz="1000" b="0">
                <a:solidFill>
                  <a:srgbClr val="E8ECF8"/>
                </a:solidFill>
                <a:latin typeface="Arial"/>
              </a:rPr>
              <a:t>•  Compliance team chặn shared LLM</a:t>
            </a:r>
          </a:p>
          <a:p>
            <a:pPr algn="l"/>
            <a:r>
              <a:rPr sz="1000" b="0">
                <a:solidFill>
                  <a:srgbClr val="E8ECF8"/>
                </a:solidFill>
                <a:latin typeface="Arial"/>
              </a:rPr>
              <a:t>•  POC fraud detection thất bại trên shared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017520"/>
            <a:ext cx="2514600" cy="169164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 w="9525">
            <a:solidFill>
              <a:srgbClr val="2A3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46520" y="3127248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4F8CFF"/>
                </a:solidFill>
                <a:latin typeface="Arial"/>
              </a:rPr>
              <a:t>TOOLS &amp; CHANNELS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429000"/>
            <a:ext cx="21488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E8ECF8"/>
                </a:solidFill>
                <a:latin typeface="Arial"/>
              </a:rPr>
              <a:t>•  RFP qua mua sắm nội bộ</a:t>
            </a:r>
          </a:p>
          <a:p>
            <a:pPr algn="l"/>
            <a:r>
              <a:rPr sz="1000" b="0">
                <a:solidFill>
                  <a:srgbClr val="E8ECF8"/>
                </a:solidFill>
                <a:latin typeface="Arial"/>
              </a:rPr>
              <a:t>•  Vào qua Accenture / Deloitte / FPT IS</a:t>
            </a:r>
          </a:p>
          <a:p>
            <a:pPr algn="l"/>
            <a:r>
              <a:rPr sz="1000" b="0">
                <a:solidFill>
                  <a:srgbClr val="E8ECF8"/>
                </a:solidFill>
                <a:latin typeface="Arial"/>
              </a:rPr>
              <a:t>•  Tham khảo Gartner, peer banks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892B6"/>
                </a:solidFill>
                <a:latin typeface="Arial"/>
              </a:rPr>
              <a:t>User Persona — BFSI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892B6"/>
                </a:solidFill>
                <a:latin typeface="Arial"/>
              </a:rPr>
              <a:t>11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2D3A8"/>
                </a:solidFill>
                <a:latin typeface="Arial"/>
              </a:rPr>
              <a:t>USER PERSONA · #4 MID-MARKET 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4124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400" b="1">
                <a:solidFill>
                  <a:srgbClr val="E8ECF8"/>
                </a:solidFill>
                <a:latin typeface="Arial"/>
              </a:rPr>
              <a:t>Linh — VP Engineering </a:t>
            </a:r>
            <a:r>
              <a:rPr sz="2400" b="1" err="1">
                <a:solidFill>
                  <a:srgbClr val="E8ECF8"/>
                </a:solidFill>
                <a:latin typeface="Arial"/>
              </a:rPr>
              <a:t>tại</a:t>
            </a:r>
            <a:r>
              <a:rPr sz="2400" b="1">
                <a:solidFill>
                  <a:srgbClr val="E8ECF8"/>
                </a:solidFill>
                <a:latin typeface="Arial"/>
              </a:rPr>
              <a:t> </a:t>
            </a:r>
            <a:r>
              <a:rPr lang="en-US" sz="2400" b="1">
                <a:solidFill>
                  <a:srgbClr val="E8ECF8"/>
                </a:solidFill>
                <a:latin typeface="Arial"/>
              </a:rPr>
              <a:t>Mid-tech company</a:t>
            </a:r>
            <a:endParaRPr sz="2400" b="1">
              <a:solidFill>
                <a:srgbClr val="E8ECF8"/>
              </a:solidFill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3017520" cy="338328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 w="9525">
            <a:solidFill>
              <a:srgbClr val="2A3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463040" y="1508760"/>
            <a:ext cx="1005840" cy="1005840"/>
          </a:xfrm>
          <a:prstGeom prst="ellipse">
            <a:avLst/>
          </a:prstGeom>
          <a:solidFill>
            <a:srgbClr val="22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63040" y="150876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>
                <a:solidFill>
                  <a:srgbClr val="0B1020"/>
                </a:solidFill>
                <a:latin typeface="Arial"/>
              </a:rPr>
              <a:t>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E8ECF8"/>
                </a:solidFill>
                <a:latin typeface="Arial"/>
              </a:rPr>
              <a:t>Linh, 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301752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8892B6"/>
                </a:solidFill>
                <a:latin typeface="Arial"/>
              </a:rPr>
              <a:t>VP Eng · </a:t>
            </a:r>
            <a:r>
              <a:rPr lang="en-US" sz="1000">
                <a:solidFill>
                  <a:srgbClr val="8892B6"/>
                </a:solidFill>
                <a:latin typeface="Arial"/>
              </a:rPr>
              <a:t>Mid-tech Company </a:t>
            </a:r>
            <a:r>
              <a:rPr sz="1000" b="0">
                <a:solidFill>
                  <a:srgbClr val="8892B6"/>
                </a:solidFill>
                <a:latin typeface="Arial"/>
              </a:rPr>
              <a:t>(Series B, 80 </a:t>
            </a:r>
            <a:r>
              <a:rPr sz="1000" b="0" err="1">
                <a:solidFill>
                  <a:srgbClr val="8892B6"/>
                </a:solidFill>
                <a:latin typeface="Arial"/>
              </a:rPr>
              <a:t>người</a:t>
            </a:r>
            <a:r>
              <a:rPr sz="1000" b="0">
                <a:solidFill>
                  <a:srgbClr val="8892B6"/>
                </a:solidFill>
                <a:latin typeface="Arial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918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892B6"/>
                </a:solidFill>
                <a:latin typeface="Arial"/>
              </a:rPr>
              <a:t>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29184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E8ECF8"/>
                </a:solidFill>
                <a:latin typeface="Arial"/>
              </a:rPr>
              <a:t>12 engineers, 2 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8444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892B6"/>
                </a:solidFill>
                <a:latin typeface="Arial"/>
              </a:rPr>
              <a:t>Báo cáo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58444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E8ECF8"/>
                </a:solidFill>
                <a:latin typeface="Arial"/>
              </a:rPr>
              <a:t>CTO co-founder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7705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892B6"/>
                </a:solidFill>
                <a:latin typeface="Arial"/>
              </a:rPr>
              <a:t>Budget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877056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E8ECF8"/>
                </a:solidFill>
                <a:latin typeface="Arial"/>
              </a:rPr>
              <a:t>$300K–800K/năm LLM infra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1696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892B6"/>
                </a:solidFill>
                <a:latin typeface="Arial"/>
              </a:rPr>
              <a:t>KPI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169664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E8ECF8"/>
                </a:solidFill>
                <a:latin typeface="Arial"/>
              </a:rPr>
              <a:t>p95 latency, $/MTok, uptime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11880" y="1325880"/>
            <a:ext cx="2560320" cy="164592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 w="9525">
            <a:solidFill>
              <a:srgbClr val="2A3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94760" y="143560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2D3A8"/>
                </a:solidFill>
                <a:latin typeface="Arial"/>
              </a:rPr>
              <a:t>GOALS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737360"/>
            <a:ext cx="21945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E8ECF8"/>
                </a:solidFill>
                <a:latin typeface="Arial"/>
              </a:rPr>
              <a:t>•  Giảm cost/token 30–40%</a:t>
            </a:r>
          </a:p>
          <a:p>
            <a:pPr algn="l"/>
            <a:r>
              <a:rPr sz="1000" b="0">
                <a:solidFill>
                  <a:srgbClr val="E8ECF8"/>
                </a:solidFill>
                <a:latin typeface="Arial"/>
              </a:rPr>
              <a:t>•  Tự fine-tune model trên customer data</a:t>
            </a:r>
          </a:p>
          <a:p>
            <a:pPr algn="l"/>
            <a:r>
              <a:rPr sz="1000" b="0">
                <a:solidFill>
                  <a:srgbClr val="E8ECF8"/>
                </a:solidFill>
                <a:latin typeface="Arial"/>
              </a:rPr>
              <a:t>•  Đạt SLA cho enterprise customer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1325880"/>
            <a:ext cx="2514600" cy="164592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 w="9525">
            <a:solidFill>
              <a:srgbClr val="2A3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1435608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B547"/>
                </a:solidFill>
                <a:latin typeface="Arial"/>
              </a:rPr>
              <a:t>PAINS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1737360"/>
            <a:ext cx="2148840" cy="769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E8ECF8"/>
                </a:solidFill>
                <a:latin typeface="Arial"/>
              </a:rPr>
              <a:t>•  Hit rate limit shared endpoint</a:t>
            </a:r>
          </a:p>
          <a:p>
            <a:pPr algn="l"/>
            <a:r>
              <a:rPr sz="1000" b="0">
                <a:solidFill>
                  <a:srgbClr val="E8ECF8"/>
                </a:solidFill>
                <a:latin typeface="Arial"/>
              </a:rPr>
              <a:t>•  p95 </a:t>
            </a:r>
            <a:r>
              <a:rPr sz="1000" b="0" err="1">
                <a:solidFill>
                  <a:srgbClr val="E8ECF8"/>
                </a:solidFill>
                <a:latin typeface="Arial"/>
              </a:rPr>
              <a:t>tăng</a:t>
            </a:r>
            <a:r>
              <a:rPr sz="1000" b="0">
                <a:solidFill>
                  <a:srgbClr val="E8ECF8"/>
                </a:solidFill>
                <a:latin typeface="Arial"/>
              </a:rPr>
              <a:t> 3x </a:t>
            </a:r>
            <a:r>
              <a:rPr sz="1000" b="0" err="1">
                <a:solidFill>
                  <a:srgbClr val="E8ECF8"/>
                </a:solidFill>
                <a:latin typeface="Arial"/>
              </a:rPr>
              <a:t>giờ</a:t>
            </a:r>
            <a:r>
              <a:rPr sz="1000" b="0">
                <a:solidFill>
                  <a:srgbClr val="E8ECF8"/>
                </a:solidFill>
                <a:latin typeface="Arial"/>
              </a:rPr>
              <a:t> peak — customer </a:t>
            </a:r>
            <a:r>
              <a:rPr sz="1000" b="0" err="1">
                <a:solidFill>
                  <a:srgbClr val="E8ECF8"/>
                </a:solidFill>
                <a:latin typeface="Arial"/>
              </a:rPr>
              <a:t>kêu</a:t>
            </a:r>
            <a:endParaRPr sz="1000" b="0" err="1">
              <a:solidFill>
                <a:srgbClr val="E8ECF8"/>
              </a:solidFill>
              <a:latin typeface="Arial"/>
              <a:cs typeface="Arial"/>
            </a:endParaRPr>
          </a:p>
          <a:p>
            <a:r>
              <a:rPr sz="1000" b="0">
                <a:solidFill>
                  <a:srgbClr val="E8ECF8"/>
                </a:solidFill>
                <a:latin typeface="Arial"/>
              </a:rPr>
              <a:t>•  Unit economics </a:t>
            </a:r>
            <a:r>
              <a:rPr sz="1000" b="0" err="1">
                <a:solidFill>
                  <a:srgbClr val="E8ECF8"/>
                </a:solidFill>
                <a:latin typeface="Arial"/>
              </a:rPr>
              <a:t>âm</a:t>
            </a:r>
            <a:r>
              <a:rPr sz="1000" b="0">
                <a:solidFill>
                  <a:srgbClr val="E8ECF8"/>
                </a:solidFill>
                <a:latin typeface="Arial"/>
              </a:rPr>
              <a:t>, </a:t>
            </a:r>
            <a:r>
              <a:rPr lang="en-US" sz="1000" err="1">
                <a:solidFill>
                  <a:srgbClr val="E8ECF8"/>
                </a:solidFill>
                <a:latin typeface="Arial"/>
              </a:rPr>
              <a:t>chuyển</a:t>
            </a:r>
            <a:r>
              <a:rPr lang="en-US" sz="1000">
                <a:solidFill>
                  <a:srgbClr val="E8ECF8"/>
                </a:solidFill>
                <a:latin typeface="Arial"/>
              </a:rPr>
              <a:t> request </a:t>
            </a:r>
            <a:r>
              <a:rPr lang="en-US" sz="1000" err="1">
                <a:solidFill>
                  <a:srgbClr val="E8ECF8"/>
                </a:solidFill>
                <a:latin typeface="Arial"/>
              </a:rPr>
              <a:t>giữa</a:t>
            </a:r>
            <a:r>
              <a:rPr lang="en-US" sz="1000">
                <a:solidFill>
                  <a:srgbClr val="E8ECF8"/>
                </a:solidFill>
                <a:latin typeface="Arial"/>
              </a:rPr>
              <a:t> 3</a:t>
            </a:r>
            <a:r>
              <a:rPr sz="1000" b="0">
                <a:solidFill>
                  <a:srgbClr val="E8ECF8"/>
                </a:solidFill>
                <a:latin typeface="Arial"/>
              </a:rPr>
              <a:t> provider</a:t>
            </a:r>
            <a:endParaRPr sz="1000" b="0">
              <a:solidFill>
                <a:srgbClr val="E8ECF8"/>
              </a:solidFill>
              <a:latin typeface="Arial"/>
              <a:cs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611880" y="3017520"/>
            <a:ext cx="2560320" cy="169164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 w="9525">
            <a:solidFill>
              <a:srgbClr val="2A3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794760" y="312724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4F8CFF"/>
                </a:solidFill>
                <a:latin typeface="Arial"/>
              </a:rPr>
              <a:t>BUYING TRIGGERS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42900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E8ECF8"/>
                </a:solidFill>
                <a:latin typeface="Arial"/>
              </a:rPr>
              <a:t>•  Token volume &gt;200M/ngày</a:t>
            </a:r>
          </a:p>
          <a:p>
            <a:pPr algn="l"/>
            <a:r>
              <a:rPr sz="1000" b="0">
                <a:solidFill>
                  <a:srgbClr val="E8ECF8"/>
                </a:solidFill>
                <a:latin typeface="Arial"/>
              </a:rPr>
              <a:t>•  Enterprise customer hỏi data isolation</a:t>
            </a:r>
          </a:p>
          <a:p>
            <a:pPr algn="l"/>
            <a:r>
              <a:rPr sz="1000" b="0">
                <a:solidFill>
                  <a:srgbClr val="E8ECF8"/>
                </a:solidFill>
                <a:latin typeface="Arial"/>
              </a:rPr>
              <a:t>•  Bill provider tăng 30%/tháng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017520"/>
            <a:ext cx="2514600" cy="169164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 w="9525">
            <a:solidFill>
              <a:srgbClr val="2A3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46520" y="3127248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4F8CFF"/>
                </a:solidFill>
                <a:latin typeface="Arial"/>
              </a:rPr>
              <a:t>TOOLS &amp; CHANNELS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429000"/>
            <a:ext cx="21488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E8ECF8"/>
                </a:solidFill>
                <a:latin typeface="Arial"/>
              </a:rPr>
              <a:t>•  Tự signup, đọc docs</a:t>
            </a:r>
          </a:p>
          <a:p>
            <a:pPr algn="l"/>
            <a:r>
              <a:rPr sz="1000" b="0">
                <a:solidFill>
                  <a:srgbClr val="E8ECF8"/>
                </a:solidFill>
                <a:latin typeface="Arial"/>
              </a:rPr>
              <a:t>•  Hacker News, X, Reddit r/LocalLLaMA</a:t>
            </a:r>
          </a:p>
          <a:p>
            <a:pPr algn="l"/>
            <a:r>
              <a:rPr sz="1000" b="0">
                <a:solidFill>
                  <a:srgbClr val="E8ECF8"/>
                </a:solidFill>
                <a:latin typeface="Arial"/>
              </a:rPr>
              <a:t>•  So sánh trực tiếp Fireworks / Together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892B6"/>
                </a:solidFill>
                <a:latin typeface="Arial"/>
              </a:rPr>
              <a:t>User Persona — Mid-market Tech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892B6"/>
                </a:solidFill>
                <a:latin typeface="Arial"/>
              </a:rPr>
              <a:t>12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8503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1E40AF"/>
                </a:solidFill>
                <a:latin typeface="Arial"/>
              </a:rPr>
              <a:t>CUSTOMER JOURNEY · BFSI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85039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b="1">
                <a:solidFill>
                  <a:srgbClr val="1E2761"/>
                </a:solidFill>
                <a:latin typeface="Arial"/>
              </a:rPr>
              <a:t>User journey</a:t>
            </a:r>
            <a:r>
              <a:rPr sz="1800" b="1">
                <a:solidFill>
                  <a:srgbClr val="1E2761"/>
                </a:solidFill>
                <a:latin typeface="Arial"/>
              </a:rPr>
              <a:t>— </a:t>
            </a:r>
            <a:r>
              <a:rPr sz="1800" b="1" err="1">
                <a:solidFill>
                  <a:srgbClr val="1E2761"/>
                </a:solidFill>
                <a:latin typeface="Arial"/>
              </a:rPr>
              <a:t>từ</a:t>
            </a:r>
            <a:r>
              <a:rPr sz="1800" b="1">
                <a:solidFill>
                  <a:srgbClr val="1E2761"/>
                </a:solidFill>
                <a:latin typeface="Arial"/>
              </a:rPr>
              <a:t> Catalog </a:t>
            </a:r>
            <a:r>
              <a:rPr sz="1800" b="1" err="1">
                <a:solidFill>
                  <a:srgbClr val="1E2761"/>
                </a:solidFill>
                <a:latin typeface="Arial"/>
              </a:rPr>
              <a:t>đến</a:t>
            </a:r>
            <a:r>
              <a:rPr sz="1800" b="1">
                <a:solidFill>
                  <a:srgbClr val="1E2761"/>
                </a:solidFill>
                <a:latin typeface="Arial"/>
              </a:rPr>
              <a:t> Billing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8503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Enterprise · ưu tiên compliance, audit và kiểm soát chi phí theo từng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7899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64748B"/>
                </a:solidFill>
                <a:latin typeface="Arial"/>
              </a:rPr>
              <a:t>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078992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64748B"/>
                </a:solidFill>
                <a:latin typeface="Arial"/>
              </a:rPr>
              <a:t>MÀN HÌNH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078992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64748B"/>
                </a:solidFill>
                <a:latin typeface="Arial"/>
              </a:rPr>
              <a:t>HÀNH ĐỘNG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0680" y="1078992"/>
            <a:ext cx="2057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64748B"/>
                </a:solidFill>
                <a:latin typeface="Arial"/>
              </a:rPr>
              <a:t>KẾT QUẢ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1078992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>
                <a:solidFill>
                  <a:srgbClr val="64748B"/>
                </a:solidFill>
                <a:latin typeface="Arial"/>
              </a:rPr>
              <a:t>FEATURE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1307592"/>
            <a:ext cx="8503920" cy="55340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11480" y="1456279"/>
            <a:ext cx="256032" cy="256032"/>
          </a:xfrm>
          <a:prstGeom prst="ellipse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1456279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1456279"/>
            <a:ext cx="1920240" cy="256032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1456279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E40AF"/>
                </a:solidFill>
                <a:latin typeface="Arial"/>
              </a:rPr>
              <a:t>Model Catalog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1362456"/>
            <a:ext cx="2468880" cy="4436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  <a:latin typeface="Arial"/>
              </a:rPr>
              <a:t>Lọc theo task (NLP, fraud), license thương mại, size phù hợp GPU on-prem.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1362456"/>
            <a:ext cx="2057400" cy="4436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  <a:latin typeface="Arial"/>
              </a:rPr>
              <a:t>✓ Short-list model qua được vòng compliance.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1362456"/>
            <a:ext cx="1280160" cy="4436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rial"/>
              </a:rPr>
              <a:t>Search &amp; Filter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1900998"/>
            <a:ext cx="8503920" cy="55340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11480" y="2049685"/>
            <a:ext cx="256032" cy="256032"/>
          </a:xfrm>
          <a:prstGeom prst="ellipse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2049685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2049685"/>
            <a:ext cx="1920240" cy="256032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2049685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E40AF"/>
                </a:solidFill>
                <a:latin typeface="Arial"/>
              </a:rPr>
              <a:t>Model Detail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1955862"/>
            <a:ext cx="2468880" cy="4436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  <a:latin typeface="Arial"/>
              </a:rPr>
              <a:t>Xem specs, license, preset GPU &amp; cost preview để gửi Legal và Finance.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1955862"/>
            <a:ext cx="2057400" cy="4436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  <a:latin typeface="Arial"/>
              </a:rPr>
              <a:t>✓ Có tài liệu kỹ thuật + chi phí cho RFP.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1955862"/>
            <a:ext cx="1280160" cy="4436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rial"/>
              </a:rPr>
              <a:t>Cost Preview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2494404"/>
            <a:ext cx="8503920" cy="55340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11480" y="2643091"/>
            <a:ext cx="256032" cy="256032"/>
          </a:xfrm>
          <a:prstGeom prst="ellipse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1480" y="2643091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2643091"/>
            <a:ext cx="1920240" cy="256032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2643091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E40AF"/>
                </a:solidFill>
                <a:latin typeface="Arial"/>
              </a:rPr>
              <a:t>Deploy — Advanced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0360" y="2549268"/>
            <a:ext cx="2468880" cy="4436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  <a:latin typeface="Arial"/>
              </a:rPr>
              <a:t>Chọn GPU / replicas / quantization, region VN, auto-scale theo giờ giao dịch.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40680" y="2549268"/>
            <a:ext cx="2057400" cy="4436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  <a:latin typeface="Arial"/>
              </a:rPr>
              <a:t>✓ Endpoint dedicated, data residency VN, có SLA.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43800" y="2549268"/>
            <a:ext cx="1280160" cy="4436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rial"/>
              </a:rPr>
              <a:t>Advanced Deploy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0040" y="3087810"/>
            <a:ext cx="8503920" cy="55340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411480" y="3236497"/>
            <a:ext cx="256032" cy="256032"/>
          </a:xfrm>
          <a:prstGeom prst="ellipse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11480" y="3236497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80" y="3236497"/>
            <a:ext cx="1920240" cy="256032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68680" y="3236497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E40AF"/>
                </a:solidFill>
                <a:latin typeface="Arial"/>
              </a:rPr>
              <a:t>My Dedicated Model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80360" y="3142674"/>
            <a:ext cx="2468880" cy="4436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  <a:latin typeface="Arial"/>
              </a:rPr>
              <a:t>Theo dõi vòng đời Queued → Deploying → Running; pause off-hours.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40680" y="3142674"/>
            <a:ext cx="2057400" cy="4436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  <a:latin typeface="Arial"/>
              </a:rPr>
              <a:t>✓ Endpoint ổn định, fraud p99 &lt; 100ms.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43800" y="3142674"/>
            <a:ext cx="1280160" cy="4436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rial"/>
              </a:rPr>
              <a:t>Lifecycle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0040" y="3681216"/>
            <a:ext cx="8503920" cy="55340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411480" y="3829903"/>
            <a:ext cx="256032" cy="256032"/>
          </a:xfrm>
          <a:prstGeom prst="ellipse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11480" y="3829903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8680" y="3829903"/>
            <a:ext cx="1920240" cy="256032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68680" y="3829903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E40AF"/>
                </a:solidFill>
                <a:latin typeface="Arial"/>
              </a:rPr>
              <a:t>API Keys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80360" y="3736080"/>
            <a:ext cx="2468880" cy="4436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  <a:latin typeface="Arial"/>
              </a:rPr>
              <a:t>Cấp scoped key cho từng service (fraud, KYC); one-time reveal, lịch revoke.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40680" y="3736080"/>
            <a:ext cx="2057400" cy="4436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  <a:latin typeface="Arial"/>
              </a:rPr>
              <a:t>✓ Đáp ứng audit trail SOC2 / NHNN.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43800" y="3736080"/>
            <a:ext cx="1280160" cy="4436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rial"/>
              </a:rPr>
              <a:t>Scoped Keys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20040" y="4274622"/>
            <a:ext cx="8503920" cy="55340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411480" y="4423309"/>
            <a:ext cx="256032" cy="256032"/>
          </a:xfrm>
          <a:prstGeom prst="ellipse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11480" y="4423309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68680" y="4423309"/>
            <a:ext cx="1920240" cy="256032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68680" y="4423309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E40AF"/>
                </a:solidFill>
                <a:latin typeface="Arial"/>
              </a:rPr>
              <a:t>Usage &amp; Billing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80360" y="4329486"/>
            <a:ext cx="2468880" cy="4436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  <a:latin typeface="Arial"/>
              </a:rPr>
              <a:t>Theo dõi GPU-hours, token, spend theo service; export báo cáo Finance.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40680" y="4329486"/>
            <a:ext cx="2057400" cy="4436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  <a:latin typeface="Arial"/>
              </a:rPr>
              <a:t>✓ Chi phí minh bạch → mở rộng usecase.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43800" y="4329486"/>
            <a:ext cx="1280160" cy="4436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rial"/>
              </a:rPr>
              <a:t>Per-service Bill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0040" y="4882896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Customer Journey — BFSI (theo Feature)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0" y="4882896"/>
            <a:ext cx="1965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rial"/>
              </a:rPr>
              <a:t>13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B547"/>
                </a:solidFill>
                <a:latin typeface="Arial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4124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E8ECF8"/>
                </a:solidFill>
                <a:latin typeface="Arial"/>
              </a:rPr>
              <a:t>Feature List — Dedicated Inference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892B6"/>
                </a:solidFill>
                <a:latin typeface="Arial"/>
              </a:rPr>
              <a:t>7 module cốt lõi phục vụ cả enterprise (BFSI) lẫn self-serve (Tech)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2011680" cy="155448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 w="9525">
            <a:solidFill>
              <a:srgbClr val="2A3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411480" cy="274320"/>
          </a:xfrm>
          <a:prstGeom prst="roundRect">
            <a:avLst>
              <a:gd name="adj" fmla="val 40000"/>
            </a:avLst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B102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8ECF8"/>
                </a:solidFill>
                <a:latin typeface="Arial"/>
              </a:rPr>
              <a:t>Model Catalog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892B6"/>
                </a:solidFill>
                <a:latin typeface="Arial"/>
              </a:rPr>
              <a:t>List model có sẵn — search, filter theo task/size/license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78608" y="1417320"/>
            <a:ext cx="2011680" cy="155448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 w="9525">
            <a:solidFill>
              <a:srgbClr val="2A3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761488" y="1600200"/>
            <a:ext cx="411480" cy="274320"/>
          </a:xfrm>
          <a:prstGeom prst="roundRect">
            <a:avLst>
              <a:gd name="adj" fmla="val 40000"/>
            </a:avLst>
          </a:prstGeom>
          <a:solidFill>
            <a:srgbClr val="22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61488" y="160020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B1020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61488" y="196596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8ECF8"/>
                </a:solidFill>
                <a:latin typeface="Arial"/>
              </a:rPr>
              <a:t>Hugging Face Import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1488" y="2331720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892B6"/>
                </a:solidFill>
                <a:latin typeface="Arial"/>
              </a:rPr>
              <a:t>Pull bất kỳ model nào từ HF về object storage VN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0016" y="1417320"/>
            <a:ext cx="2011680" cy="155448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 w="9525">
            <a:solidFill>
              <a:srgbClr val="2A3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882896" y="1600200"/>
            <a:ext cx="411480" cy="274320"/>
          </a:xfrm>
          <a:prstGeom prst="roundRect">
            <a:avLst>
              <a:gd name="adj" fmla="val 40000"/>
            </a:avLst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82896" y="160020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B1020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82896" y="196596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8ECF8"/>
                </a:solidFill>
                <a:latin typeface="Arial"/>
              </a:rPr>
              <a:t>Model Detail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82896" y="2331720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892B6"/>
                </a:solidFill>
                <a:latin typeface="Arial"/>
              </a:rPr>
              <a:t>Specs, license, preset GPU recommendation, cost preview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21424" y="1417320"/>
            <a:ext cx="2011680" cy="155448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 w="9525">
            <a:solidFill>
              <a:srgbClr val="2A3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004304" y="1600200"/>
            <a:ext cx="411480" cy="274320"/>
          </a:xfrm>
          <a:prstGeom prst="roundRect">
            <a:avLst>
              <a:gd name="adj" fmla="val 40000"/>
            </a:avLst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04304" y="160020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B1020"/>
                </a:solidFill>
                <a:latin typeface="Arial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04304" y="196596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8ECF8"/>
                </a:solidFill>
                <a:latin typeface="Arial"/>
              </a:rPr>
              <a:t>Deploy 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04304" y="2331720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892B6"/>
                </a:solidFill>
                <a:latin typeface="Arial"/>
              </a:rPr>
              <a:t>Quick (preset) &amp; Advanced (GPU / replicas / quantization / auto-scale)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136392"/>
            <a:ext cx="2011680" cy="155448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 w="9525">
            <a:solidFill>
              <a:srgbClr val="2A3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40080" y="3319272"/>
            <a:ext cx="411480" cy="274320"/>
          </a:xfrm>
          <a:prstGeom prst="roundRect">
            <a:avLst>
              <a:gd name="adj" fmla="val 40000"/>
            </a:avLst>
          </a:prstGeom>
          <a:solidFill>
            <a:srgbClr val="22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331927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B1020"/>
                </a:solidFill>
                <a:latin typeface="Arial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68503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8ECF8"/>
                </a:solidFill>
                <a:latin typeface="Arial"/>
              </a:rPr>
              <a:t>My Dedicated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050792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892B6"/>
                </a:solidFill>
                <a:latin typeface="Arial"/>
              </a:rPr>
              <a:t>Lifecycle endpoint: Queued → Deploying → Running ↔ Paused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78608" y="3136392"/>
            <a:ext cx="2011680" cy="155448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 w="9525">
            <a:solidFill>
              <a:srgbClr val="2A3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2761488" y="3319272"/>
            <a:ext cx="411480" cy="274320"/>
          </a:xfrm>
          <a:prstGeom prst="roundRect">
            <a:avLst>
              <a:gd name="adj" fmla="val 40000"/>
            </a:avLst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61488" y="331927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B1020"/>
                </a:solidFill>
                <a:latin typeface="Arial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61488" y="368503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8ECF8"/>
                </a:solidFill>
                <a:latin typeface="Arial"/>
              </a:rPr>
              <a:t>Usage &amp; Billing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61488" y="4050792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892B6"/>
                </a:solidFill>
                <a:latin typeface="Arial"/>
              </a:rPr>
              <a:t>All models token, Requests Over Time, GPU-hours, Spend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00016" y="3136392"/>
            <a:ext cx="2011680" cy="155448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 w="9525">
            <a:solidFill>
              <a:srgbClr val="2A3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4882896" y="3319272"/>
            <a:ext cx="411480" cy="274320"/>
          </a:xfrm>
          <a:prstGeom prst="roundRect">
            <a:avLst>
              <a:gd name="adj" fmla="val 40000"/>
            </a:avLst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882896" y="331927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B1020"/>
                </a:solidFill>
                <a:latin typeface="Arial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82896" y="368503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8ECF8"/>
                </a:solidFill>
                <a:latin typeface="Arial"/>
              </a:rPr>
              <a:t>API Keys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82896" y="4050792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892B6"/>
                </a:solidFill>
                <a:latin typeface="Arial"/>
              </a:rPr>
              <a:t>Scoped keys, one-time reveal, revocation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892B6"/>
                </a:solidFill>
                <a:latin typeface="Arial"/>
              </a:rPr>
              <a:t>Feature List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3840" y="48006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892B6"/>
                </a:solidFill>
                <a:latin typeface="Arial"/>
              </a:rPr>
              <a:t>15 / 16</a:t>
            </a:r>
          </a:p>
        </p:txBody>
      </p:sp>
      <p:pic>
        <p:nvPicPr>
          <p:cNvPr id="43" name="Picture 42" descr="A screenshot of a computer  AI-generated content may be incorrect.">
            <a:extLst>
              <a:ext uri="{FF2B5EF4-FFF2-40B4-BE49-F238E27FC236}">
                <a16:creationId xmlns:a16="http://schemas.microsoft.com/office/drawing/2014/main" id="{150C249B-12F0-5847-35A2-D2177D30B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272" y="3103749"/>
            <a:ext cx="2143685" cy="165903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5439E17-E88B-A1C3-81DD-3480DD51FD10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58FE927F-EC1C-43C3-D3EC-3E6AE62C4269}"/>
              </a:ext>
            </a:extLst>
          </p:cNvPr>
          <p:cNvSpPr txBox="1"/>
          <p:nvPr/>
        </p:nvSpPr>
        <p:spPr>
          <a:xfrm>
            <a:off x="365760" y="2560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F59E0B"/>
                </a:solidFill>
                <a:latin typeface="Arial"/>
              </a:rPr>
              <a:t>PRODUCT · DEEP DIVE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E4978458-6D33-DC16-FAB1-A50B9502F209}"/>
              </a:ext>
            </a:extLst>
          </p:cNvPr>
          <p:cNvSpPr txBox="1"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Deploy Flow — Roadmap theo 3 phase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E1D8ECFB-6073-2299-60EC-793873950082}"/>
              </a:ext>
            </a:extLst>
          </p:cNvPr>
          <p:cNvSpPr txBox="1"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0">
                <a:solidFill>
                  <a:srgbClr val="94A3B8"/>
                </a:solidFill>
                <a:latin typeface="Arial"/>
              </a:rPr>
              <a:t>Từ deploy thủ công → autoscale theo tải → scale-to-zero tối ưu chi phí</a:t>
            </a:r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8E5E9548-21D2-BCE8-5E53-48C3FCD51B69}"/>
              </a:ext>
            </a:extLst>
          </p:cNvPr>
          <p:cNvSpPr/>
          <p:nvPr/>
        </p:nvSpPr>
        <p:spPr>
          <a:xfrm>
            <a:off x="365760" y="1371600"/>
            <a:ext cx="2743200" cy="3337560"/>
          </a:xfrm>
          <a:prstGeom prst="roundRect">
            <a:avLst>
              <a:gd name="adj" fmla="val 4000"/>
            </a:avLst>
          </a:prstGeom>
          <a:solidFill>
            <a:srgbClr val="111B3D"/>
          </a:solidFill>
          <a:ln w="9525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B8B6B214-AC15-4BBF-D8AE-E115BE2C1B9C}"/>
              </a:ext>
            </a:extLst>
          </p:cNvPr>
          <p:cNvSpPr/>
          <p:nvPr/>
        </p:nvSpPr>
        <p:spPr>
          <a:xfrm>
            <a:off x="530352" y="1554480"/>
            <a:ext cx="457200" cy="329184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A44DB765-4305-EACA-9C97-0918A69D9A24}"/>
              </a:ext>
            </a:extLst>
          </p:cNvPr>
          <p:cNvSpPr txBox="1"/>
          <p:nvPr/>
        </p:nvSpPr>
        <p:spPr>
          <a:xfrm>
            <a:off x="1078992" y="1572768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3B82F6"/>
                </a:solidFill>
                <a:latin typeface="Arial"/>
              </a:rPr>
              <a:t>PHASE 1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841F8612-B0F2-FAA3-1511-F46C400C2200}"/>
              </a:ext>
            </a:extLst>
          </p:cNvPr>
          <p:cNvSpPr txBox="1"/>
          <p:nvPr/>
        </p:nvSpPr>
        <p:spPr>
          <a:xfrm>
            <a:off x="1078992" y="173736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0">
                <a:solidFill>
                  <a:srgbClr val="94A3B8"/>
                </a:solidFill>
                <a:latin typeface="Arial"/>
              </a:rPr>
              <a:t>MVP · Launch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3CD5CCFA-34CE-30EA-23B6-DFF370560A5B}"/>
              </a:ext>
            </a:extLst>
          </p:cNvPr>
          <p:cNvSpPr txBox="1"/>
          <p:nvPr/>
        </p:nvSpPr>
        <p:spPr>
          <a:xfrm>
            <a:off x="548640" y="201168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Deploy Model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2CBE1F84-E074-B694-F943-46F9BCEF835A}"/>
              </a:ext>
            </a:extLst>
          </p:cNvPr>
          <p:cNvSpPr txBox="1"/>
          <p:nvPr/>
        </p:nvSpPr>
        <p:spPr>
          <a:xfrm>
            <a:off x="548640" y="2395728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00" b="0">
                <a:solidFill>
                  <a:srgbClr val="CBD5E1"/>
                </a:solidFill>
                <a:latin typeface="Arial"/>
              </a:rPr>
              <a:t>User chọn model, GPU, region → endpoint dedicated chạy 24/7.</a:t>
            </a:r>
          </a:p>
        </p:txBody>
      </p:sp>
      <p:cxnSp>
        <p:nvCxnSpPr>
          <p:cNvPr id="13" name="Connector 11">
            <a:extLst>
              <a:ext uri="{FF2B5EF4-FFF2-40B4-BE49-F238E27FC236}">
                <a16:creationId xmlns:a16="http://schemas.microsoft.com/office/drawing/2014/main" id="{EB14AC77-67E9-724F-65C1-11C8C9151428}"/>
              </a:ext>
            </a:extLst>
          </p:cNvPr>
          <p:cNvCxnSpPr/>
          <p:nvPr/>
        </p:nvCxnSpPr>
        <p:spPr>
          <a:xfrm>
            <a:off x="548640" y="2999232"/>
            <a:ext cx="2377439" cy="0"/>
          </a:xfrm>
          <a:prstGeom prst="line">
            <a:avLst/>
          </a:prstGeom>
          <a:ln w="9525">
            <a:solidFill>
              <a:srgbClr val="1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2">
            <a:extLst>
              <a:ext uri="{FF2B5EF4-FFF2-40B4-BE49-F238E27FC236}">
                <a16:creationId xmlns:a16="http://schemas.microsoft.com/office/drawing/2014/main" id="{AAA4B637-A43E-526E-2C79-618C1CECC9A7}"/>
              </a:ext>
            </a:extLst>
          </p:cNvPr>
          <p:cNvSpPr txBox="1"/>
          <p:nvPr/>
        </p:nvSpPr>
        <p:spPr>
          <a:xfrm>
            <a:off x="548640" y="3063240"/>
            <a:ext cx="24688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4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▸  </a:t>
            </a:r>
            <a:r>
              <a:rPr sz="900">
                <a:solidFill>
                  <a:srgbClr val="E5E7EB"/>
                </a:solidFill>
                <a:latin typeface="Arial"/>
              </a:rPr>
              <a:t>Quick deploy (preset GPU) &amp; Advanced (GPU type, replicas, quantization)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▸  </a:t>
            </a:r>
            <a:r>
              <a:rPr sz="900">
                <a:solidFill>
                  <a:srgbClr val="E5E7EB"/>
                </a:solidFill>
                <a:latin typeface="Arial"/>
              </a:rPr>
              <a:t>Region VN, object storage nội địa — đáp ứng data residency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▸  </a:t>
            </a:r>
            <a:r>
              <a:rPr sz="900">
                <a:solidFill>
                  <a:srgbClr val="E5E7EB"/>
                </a:solidFill>
                <a:latin typeface="Arial"/>
              </a:rPr>
              <a:t>Endpoint URL + API key cấp ngay sau khi Running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3B82F6"/>
                </a:solidFill>
                <a:latin typeface="Arial"/>
              </a:rPr>
              <a:t>▸  </a:t>
            </a:r>
            <a:r>
              <a:rPr sz="900">
                <a:solidFill>
                  <a:srgbClr val="E5E7EB"/>
                </a:solidFill>
                <a:latin typeface="Arial"/>
              </a:rPr>
              <a:t>Fixed replicas — user tự chỉnh số lượng</a:t>
            </a:r>
          </a:p>
        </p:txBody>
      </p:sp>
      <p:sp>
        <p:nvSpPr>
          <p:cNvPr id="15" name="Rounded Rectangle 13">
            <a:extLst>
              <a:ext uri="{FF2B5EF4-FFF2-40B4-BE49-F238E27FC236}">
                <a16:creationId xmlns:a16="http://schemas.microsoft.com/office/drawing/2014/main" id="{2C3E8A2D-B8E4-C5CB-FC4C-B2BE0B9F55AF}"/>
              </a:ext>
            </a:extLst>
          </p:cNvPr>
          <p:cNvSpPr/>
          <p:nvPr/>
        </p:nvSpPr>
        <p:spPr>
          <a:xfrm>
            <a:off x="3246120" y="1371600"/>
            <a:ext cx="2743200" cy="3337560"/>
          </a:xfrm>
          <a:prstGeom prst="roundRect">
            <a:avLst>
              <a:gd name="adj" fmla="val 4000"/>
            </a:avLst>
          </a:prstGeom>
          <a:solidFill>
            <a:srgbClr val="111B3D"/>
          </a:solidFill>
          <a:ln w="9525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" name="Rounded Rectangle 14">
            <a:extLst>
              <a:ext uri="{FF2B5EF4-FFF2-40B4-BE49-F238E27FC236}">
                <a16:creationId xmlns:a16="http://schemas.microsoft.com/office/drawing/2014/main" id="{A81F40D5-E0ED-1007-0A3A-A838FD13025E}"/>
              </a:ext>
            </a:extLst>
          </p:cNvPr>
          <p:cNvSpPr/>
          <p:nvPr/>
        </p:nvSpPr>
        <p:spPr>
          <a:xfrm>
            <a:off x="3410712" y="1554480"/>
            <a:ext cx="457200" cy="329184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7" name="TextBox 15">
            <a:extLst>
              <a:ext uri="{FF2B5EF4-FFF2-40B4-BE49-F238E27FC236}">
                <a16:creationId xmlns:a16="http://schemas.microsoft.com/office/drawing/2014/main" id="{EB2AF5F7-8271-9CD3-810C-2C34F4BA0372}"/>
              </a:ext>
            </a:extLst>
          </p:cNvPr>
          <p:cNvSpPr txBox="1"/>
          <p:nvPr/>
        </p:nvSpPr>
        <p:spPr>
          <a:xfrm>
            <a:off x="3959352" y="1572768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PHASE 2</a:t>
            </a:r>
          </a:p>
        </p:txBody>
      </p:sp>
      <p:sp>
        <p:nvSpPr>
          <p:cNvPr id="18" name="TextBox 16">
            <a:extLst>
              <a:ext uri="{FF2B5EF4-FFF2-40B4-BE49-F238E27FC236}">
                <a16:creationId xmlns:a16="http://schemas.microsoft.com/office/drawing/2014/main" id="{0D2FFC6F-9E04-F42B-5FA2-A09323D80EDF}"/>
              </a:ext>
            </a:extLst>
          </p:cNvPr>
          <p:cNvSpPr txBox="1"/>
          <p:nvPr/>
        </p:nvSpPr>
        <p:spPr>
          <a:xfrm>
            <a:off x="3959352" y="173736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0">
                <a:solidFill>
                  <a:srgbClr val="94A3B8"/>
                </a:solidFill>
                <a:latin typeface="Arial"/>
              </a:rPr>
              <a:t>Sau MVP</a:t>
            </a:r>
          </a:p>
        </p:txBody>
      </p:sp>
      <p:sp>
        <p:nvSpPr>
          <p:cNvPr id="19" name="TextBox 17">
            <a:extLst>
              <a:ext uri="{FF2B5EF4-FFF2-40B4-BE49-F238E27FC236}">
                <a16:creationId xmlns:a16="http://schemas.microsoft.com/office/drawing/2014/main" id="{BAECFD66-395E-A709-E2D1-043F108D0A8D}"/>
              </a:ext>
            </a:extLst>
          </p:cNvPr>
          <p:cNvSpPr txBox="1"/>
          <p:nvPr/>
        </p:nvSpPr>
        <p:spPr>
          <a:xfrm>
            <a:off x="3429000" y="201168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Autoscale</a:t>
            </a:r>
          </a:p>
        </p:txBody>
      </p:sp>
      <p:sp>
        <p:nvSpPr>
          <p:cNvPr id="20" name="TextBox 18">
            <a:extLst>
              <a:ext uri="{FF2B5EF4-FFF2-40B4-BE49-F238E27FC236}">
                <a16:creationId xmlns:a16="http://schemas.microsoft.com/office/drawing/2014/main" id="{C65B54DC-B449-9612-D44B-F3568A690478}"/>
              </a:ext>
            </a:extLst>
          </p:cNvPr>
          <p:cNvSpPr txBox="1"/>
          <p:nvPr/>
        </p:nvSpPr>
        <p:spPr>
          <a:xfrm>
            <a:off x="3429000" y="2395728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00" b="0">
                <a:solidFill>
                  <a:srgbClr val="CBD5E1"/>
                </a:solidFill>
                <a:latin typeface="Arial"/>
              </a:rPr>
              <a:t>Replicas tự co giãn theo QPS / GPU utilization, min ≥ 1.</a:t>
            </a:r>
          </a:p>
        </p:txBody>
      </p:sp>
      <p:cxnSp>
        <p:nvCxnSpPr>
          <p:cNvPr id="21" name="Connector 19">
            <a:extLst>
              <a:ext uri="{FF2B5EF4-FFF2-40B4-BE49-F238E27FC236}">
                <a16:creationId xmlns:a16="http://schemas.microsoft.com/office/drawing/2014/main" id="{2D563AFA-2DE7-4F77-9428-0AC1680BA9A4}"/>
              </a:ext>
            </a:extLst>
          </p:cNvPr>
          <p:cNvCxnSpPr/>
          <p:nvPr/>
        </p:nvCxnSpPr>
        <p:spPr>
          <a:xfrm>
            <a:off x="3429000" y="2999232"/>
            <a:ext cx="2377440" cy="0"/>
          </a:xfrm>
          <a:prstGeom prst="line">
            <a:avLst/>
          </a:prstGeom>
          <a:ln w="9525">
            <a:solidFill>
              <a:srgbClr val="1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0">
            <a:extLst>
              <a:ext uri="{FF2B5EF4-FFF2-40B4-BE49-F238E27FC236}">
                <a16:creationId xmlns:a16="http://schemas.microsoft.com/office/drawing/2014/main" id="{32985832-087A-3561-8CE7-BDB01283F0AB}"/>
              </a:ext>
            </a:extLst>
          </p:cNvPr>
          <p:cNvSpPr txBox="1"/>
          <p:nvPr/>
        </p:nvSpPr>
        <p:spPr>
          <a:xfrm>
            <a:off x="3429000" y="3063240"/>
            <a:ext cx="24688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4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▸  </a:t>
            </a:r>
            <a:r>
              <a:rPr sz="900">
                <a:solidFill>
                  <a:srgbClr val="E5E7EB"/>
                </a:solidFill>
                <a:latin typeface="Arial"/>
              </a:rPr>
              <a:t>Set min/max replicas + target metric (QPS, GPU%, latency p95)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▸  </a:t>
            </a:r>
            <a:r>
              <a:rPr sz="900">
                <a:solidFill>
                  <a:srgbClr val="E5E7EB"/>
                </a:solidFill>
                <a:latin typeface="Arial"/>
              </a:rPr>
              <a:t>Scale-up nhanh khi traffic tăng, scale-down có cooldown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▸  </a:t>
            </a:r>
            <a:r>
              <a:rPr sz="900">
                <a:solidFill>
                  <a:srgbClr val="E5E7EB"/>
                </a:solidFill>
                <a:latin typeface="Arial"/>
              </a:rPr>
              <a:t>Giữ tối thiểu 1 replica nóng → không cold start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10B981"/>
                </a:solidFill>
                <a:latin typeface="Arial"/>
              </a:rPr>
              <a:t>▸  </a:t>
            </a:r>
            <a:r>
              <a:rPr sz="900">
                <a:solidFill>
                  <a:srgbClr val="E5E7EB"/>
                </a:solidFill>
                <a:latin typeface="Arial"/>
              </a:rPr>
              <a:t>Phù hợp BFSI / production workload có SLA</a:t>
            </a:r>
          </a:p>
        </p:txBody>
      </p:sp>
      <p:sp>
        <p:nvSpPr>
          <p:cNvPr id="23" name="Rounded Rectangle 21">
            <a:extLst>
              <a:ext uri="{FF2B5EF4-FFF2-40B4-BE49-F238E27FC236}">
                <a16:creationId xmlns:a16="http://schemas.microsoft.com/office/drawing/2014/main" id="{548A6ED6-5E21-FB59-5B8F-2799FC9EF85E}"/>
              </a:ext>
            </a:extLst>
          </p:cNvPr>
          <p:cNvSpPr/>
          <p:nvPr/>
        </p:nvSpPr>
        <p:spPr>
          <a:xfrm>
            <a:off x="6126480" y="1371600"/>
            <a:ext cx="2743200" cy="3337560"/>
          </a:xfrm>
          <a:prstGeom prst="roundRect">
            <a:avLst>
              <a:gd name="adj" fmla="val 4000"/>
            </a:avLst>
          </a:prstGeom>
          <a:solidFill>
            <a:srgbClr val="111B3D"/>
          </a:solidFill>
          <a:ln w="9525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4" name="Rounded Rectangle 22">
            <a:extLst>
              <a:ext uri="{FF2B5EF4-FFF2-40B4-BE49-F238E27FC236}">
                <a16:creationId xmlns:a16="http://schemas.microsoft.com/office/drawing/2014/main" id="{34869CBB-694B-406F-721E-056E7870C3B9}"/>
              </a:ext>
            </a:extLst>
          </p:cNvPr>
          <p:cNvSpPr/>
          <p:nvPr/>
        </p:nvSpPr>
        <p:spPr>
          <a:xfrm>
            <a:off x="6291072" y="1554480"/>
            <a:ext cx="457200" cy="329184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5" name="TextBox 23">
            <a:extLst>
              <a:ext uri="{FF2B5EF4-FFF2-40B4-BE49-F238E27FC236}">
                <a16:creationId xmlns:a16="http://schemas.microsoft.com/office/drawing/2014/main" id="{0CE9B081-E609-5A03-7B5E-C134BA02486F}"/>
              </a:ext>
            </a:extLst>
          </p:cNvPr>
          <p:cNvSpPr txBox="1"/>
          <p:nvPr/>
        </p:nvSpPr>
        <p:spPr>
          <a:xfrm>
            <a:off x="6839712" y="1572768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>
                <a:solidFill>
                  <a:srgbClr val="F59E0B"/>
                </a:solidFill>
                <a:latin typeface="Arial"/>
              </a:rPr>
              <a:t>PHASE 3</a:t>
            </a:r>
          </a:p>
        </p:txBody>
      </p:sp>
      <p:sp>
        <p:nvSpPr>
          <p:cNvPr id="26" name="TextBox 24">
            <a:extLst>
              <a:ext uri="{FF2B5EF4-FFF2-40B4-BE49-F238E27FC236}">
                <a16:creationId xmlns:a16="http://schemas.microsoft.com/office/drawing/2014/main" id="{CE1F8F95-6A50-200A-5A72-672F96559EB2}"/>
              </a:ext>
            </a:extLst>
          </p:cNvPr>
          <p:cNvSpPr txBox="1"/>
          <p:nvPr/>
        </p:nvSpPr>
        <p:spPr>
          <a:xfrm>
            <a:off x="6839712" y="173736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00" b="0">
                <a:solidFill>
                  <a:srgbClr val="94A3B8"/>
                </a:solidFill>
                <a:latin typeface="Arial"/>
              </a:rPr>
              <a:t>Cost-saving</a:t>
            </a:r>
          </a:p>
        </p:txBody>
      </p:sp>
      <p:sp>
        <p:nvSpPr>
          <p:cNvPr id="27" name="TextBox 25">
            <a:extLst>
              <a:ext uri="{FF2B5EF4-FFF2-40B4-BE49-F238E27FC236}">
                <a16:creationId xmlns:a16="http://schemas.microsoft.com/office/drawing/2014/main" id="{42E31FD9-DF07-09E0-3400-5702F68A60E6}"/>
              </a:ext>
            </a:extLst>
          </p:cNvPr>
          <p:cNvSpPr txBox="1"/>
          <p:nvPr/>
        </p:nvSpPr>
        <p:spPr>
          <a:xfrm>
            <a:off x="6309360" y="201168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Scale to Zero</a:t>
            </a:r>
          </a:p>
        </p:txBody>
      </p:sp>
      <p:sp>
        <p:nvSpPr>
          <p:cNvPr id="28" name="TextBox 26">
            <a:extLst>
              <a:ext uri="{FF2B5EF4-FFF2-40B4-BE49-F238E27FC236}">
                <a16:creationId xmlns:a16="http://schemas.microsoft.com/office/drawing/2014/main" id="{19B199E4-2315-2C5E-67B0-AF017B1706F3}"/>
              </a:ext>
            </a:extLst>
          </p:cNvPr>
          <p:cNvSpPr txBox="1"/>
          <p:nvPr/>
        </p:nvSpPr>
        <p:spPr>
          <a:xfrm>
            <a:off x="6309360" y="2395728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00" b="0">
                <a:solidFill>
                  <a:srgbClr val="CBD5E1"/>
                </a:solidFill>
                <a:latin typeface="Arial"/>
              </a:rPr>
              <a:t>Khi idle, replicas về 0 — chỉ trả tiền khi có request.</a:t>
            </a:r>
          </a:p>
        </p:txBody>
      </p:sp>
      <p:cxnSp>
        <p:nvCxnSpPr>
          <p:cNvPr id="29" name="Connector 27">
            <a:extLst>
              <a:ext uri="{FF2B5EF4-FFF2-40B4-BE49-F238E27FC236}">
                <a16:creationId xmlns:a16="http://schemas.microsoft.com/office/drawing/2014/main" id="{53D404F2-E80C-225D-848C-CFD29A9D8559}"/>
              </a:ext>
            </a:extLst>
          </p:cNvPr>
          <p:cNvCxnSpPr/>
          <p:nvPr/>
        </p:nvCxnSpPr>
        <p:spPr>
          <a:xfrm>
            <a:off x="6309360" y="2999232"/>
            <a:ext cx="2377440" cy="0"/>
          </a:xfrm>
          <a:prstGeom prst="line">
            <a:avLst/>
          </a:prstGeom>
          <a:ln w="9525">
            <a:solidFill>
              <a:srgbClr val="1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8">
            <a:extLst>
              <a:ext uri="{FF2B5EF4-FFF2-40B4-BE49-F238E27FC236}">
                <a16:creationId xmlns:a16="http://schemas.microsoft.com/office/drawing/2014/main" id="{20C0EE24-62C3-678B-B0FC-C5CB02277DFC}"/>
              </a:ext>
            </a:extLst>
          </p:cNvPr>
          <p:cNvSpPr txBox="1"/>
          <p:nvPr/>
        </p:nvSpPr>
        <p:spPr>
          <a:xfrm>
            <a:off x="6309360" y="3063240"/>
            <a:ext cx="24688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4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▸  </a:t>
            </a:r>
            <a:r>
              <a:rPr sz="900">
                <a:solidFill>
                  <a:srgbClr val="E5E7EB"/>
                </a:solidFill>
                <a:latin typeface="Arial"/>
              </a:rPr>
              <a:t>Idle timeout cấu hình được (vd: 5–15 phút)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▸  </a:t>
            </a:r>
            <a:r>
              <a:rPr sz="900">
                <a:solidFill>
                  <a:srgbClr val="E5E7EB"/>
                </a:solidFill>
                <a:latin typeface="Arial"/>
              </a:rPr>
              <a:t>Cold start tối ưu bằng model cache + warm pool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▸  </a:t>
            </a:r>
            <a:r>
              <a:rPr sz="900">
                <a:solidFill>
                  <a:srgbClr val="E5E7EB"/>
                </a:solidFill>
                <a:latin typeface="Arial"/>
              </a:rPr>
              <a:t>Tiết kiệm 60–80% chi phí cho workload bursty / dev-test</a:t>
            </a:r>
          </a:p>
          <a:p>
            <a:pPr>
              <a:spcAft>
                <a:spcPts val="4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▸  </a:t>
            </a:r>
            <a:r>
              <a:rPr sz="900">
                <a:solidFill>
                  <a:srgbClr val="E5E7EB"/>
                </a:solidFill>
                <a:latin typeface="Arial"/>
              </a:rPr>
              <a:t>Phù hợp Mid-Market Tech, side-project, staging env</a:t>
            </a:r>
          </a:p>
        </p:txBody>
      </p:sp>
      <p:sp>
        <p:nvSpPr>
          <p:cNvPr id="31" name="TextBox 29">
            <a:extLst>
              <a:ext uri="{FF2B5EF4-FFF2-40B4-BE49-F238E27FC236}">
                <a16:creationId xmlns:a16="http://schemas.microsoft.com/office/drawing/2014/main" id="{60A6218E-FD13-0BA8-6CCA-9801DA679FA4}"/>
              </a:ext>
            </a:extLst>
          </p:cNvPr>
          <p:cNvSpPr txBox="1"/>
          <p:nvPr/>
        </p:nvSpPr>
        <p:spPr>
          <a:xfrm>
            <a:off x="365760" y="4864608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Feature Detail · Deploy Flow</a:t>
            </a:r>
          </a:p>
        </p:txBody>
      </p:sp>
    </p:spTree>
    <p:extLst>
      <p:ext uri="{BB962C8B-B14F-4D97-AF65-F5344CB8AC3E}">
        <p14:creationId xmlns:p14="http://schemas.microsoft.com/office/powerpoint/2010/main" val="306428868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69BEE7D8B7BB4CB64B238FB17EC647" ma:contentTypeVersion="14" ma:contentTypeDescription="Create a new document." ma:contentTypeScope="" ma:versionID="9bd1ed291b4fcb13a1105a1b9ce15b01">
  <xsd:schema xmlns:xsd="http://www.w3.org/2001/XMLSchema" xmlns:xs="http://www.w3.org/2001/XMLSchema" xmlns:p="http://schemas.microsoft.com/office/2006/metadata/properties" xmlns:ns2="ff174b74-0506-45b2-a5db-514d104efd3a" xmlns:ns3="f9324fe3-e963-4d5c-b320-3b343eb8dc03" targetNamespace="http://schemas.microsoft.com/office/2006/metadata/properties" ma:root="true" ma:fieldsID="59ded2f0348a834e518f6d47db5ca8c2" ns2:_="" ns3:_="">
    <xsd:import namespace="ff174b74-0506-45b2-a5db-514d104efd3a"/>
    <xsd:import namespace="f9324fe3-e963-4d5c-b320-3b343eb8dc0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174b74-0506-45b2-a5db-514d104efd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7c97e1a9-fa82-4965-b735-0e061acf926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324fe3-e963-4d5c-b320-3b343eb8dc03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70a17f48-cb12-41fd-acdd-0a1613d22477}" ma:internalName="TaxCatchAll" ma:showField="CatchAllData" ma:web="f9324fe3-e963-4d5c-b320-3b343eb8dc0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f174b74-0506-45b2-a5db-514d104efd3a">
      <Terms xmlns="http://schemas.microsoft.com/office/infopath/2007/PartnerControls"/>
    </lcf76f155ced4ddcb4097134ff3c332f>
    <TaxCatchAll xmlns="f9324fe3-e963-4d5c-b320-3b343eb8dc03" xsi:nil="true"/>
  </documentManagement>
</p:properties>
</file>

<file path=customXml/itemProps1.xml><?xml version="1.0" encoding="utf-8"?>
<ds:datastoreItem xmlns:ds="http://schemas.openxmlformats.org/officeDocument/2006/customXml" ds:itemID="{C291B736-D359-4A88-B344-967D9E0BEC53}"/>
</file>

<file path=customXml/itemProps2.xml><?xml version="1.0" encoding="utf-8"?>
<ds:datastoreItem xmlns:ds="http://schemas.openxmlformats.org/officeDocument/2006/customXml" ds:itemID="{6F72BD4F-31A2-4231-A746-49F2AF12A435}"/>
</file>

<file path=customXml/itemProps3.xml><?xml version="1.0" encoding="utf-8"?>
<ds:datastoreItem xmlns:ds="http://schemas.openxmlformats.org/officeDocument/2006/customXml" ds:itemID="{CC7D25DE-BB21-49BF-B2D8-A8B34402C246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14</Slides>
  <Notes>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PptxGenJS</dc:creator>
  <cp:revision>7</cp:revision>
  <dcterms:created xsi:type="dcterms:W3CDTF">2026-06-03T08:43:12Z</dcterms:created>
  <dcterms:modified xsi:type="dcterms:W3CDTF">2026-06-05T04:10:32Z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0x0101009569BEE7D8B7BB4CB64B238FB17EC647</vt:lpwstr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_activity">
    <vt:lpwstr>{"FileActivityType":"6","FileActivityTimeStamp":"2026-06-04T10:27:41.823Z","FileActivityUsersOnPage":[{"DisplayName":"Huong Hoang Thi Lan","Id":"huonghtl5@fpt.com"}],"FileActivityNavigationId":null}</vt:lpwstr>
  </property>
  <property fmtid="{D5CDD505-2E9C-101B-9397-08002B2CF9AE}" pid="9" name="TriggerFlowInfo">
    <vt:lpwstr/>
  </property>
</Properties>
</file>