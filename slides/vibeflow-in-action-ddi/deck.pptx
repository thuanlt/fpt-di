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C30"/>
          </a:solidFill>
          <a:ln/>
        </p:spPr>
      </p:sp>
      <p:sp>
        <p:nvSpPr>
          <p:cNvPr id="3" name="Text 1"/>
          <p:cNvSpPr/>
          <p:nvPr/>
        </p:nvSpPr>
        <p:spPr>
          <a:xfrm>
            <a:off x="2933663" y="1459557"/>
            <a:ext cx="3276600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00" spc="75" kern="0" dirty="0">
                <a:solidFill>
                  <a:srgbClr val="6EC3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WORKSHOP · BEST PRACTICE · BUILDING WITH VIBEFLOW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178844" y="1678781"/>
            <a:ext cx="4786313" cy="9810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864"/>
              </a:lnSpc>
              <a:buNone/>
            </a:pPr>
            <a:r>
              <a:rPr lang="en-US" sz="34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CODE BY WORDS —</a:t>
            </a:r>
            <a:pPr algn="ctr" indent="0" marL="0">
              <a:buNone/>
            </a:pPr>
            <a:endParaRPr lang="en-US" sz="3400" dirty="0"/>
          </a:p>
          <a:p>
            <a:pPr algn="ctr" indent="0" marL="0">
              <a:lnSpc>
                <a:spcPts val="3864"/>
              </a:lnSpc>
              <a:buNone/>
            </a:pPr>
            <a:r>
              <a:rPr lang="en-US" sz="3400" b="1" spc="19" kern="0" dirty="0">
                <a:solidFill>
                  <a:srgbClr val="F9731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LAUNCH BY VIBE.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83619" y="2774305"/>
            <a:ext cx="3976687" cy="4000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75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9FB3CC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FPT Dedicated Inference on GPU Containers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lnSpc>
                <a:spcPts val="1575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9FB3CC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Hành trình SDLC: từ 1 câu yêu cầu đến sản phẩm chạy thật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50481" y="3345805"/>
            <a:ext cx="1443038" cy="185738"/>
          </a:xfrm>
          <a:prstGeom prst="roundRect">
            <a:avLst>
              <a:gd name="adj" fmla="val 61538"/>
            </a:avLst>
          </a:prstGeom>
          <a:solidFill>
            <a:srgbClr val="3D22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13"/>
              </a:lnSpc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600" b="1" dirty="0">
                <a:solidFill>
                  <a:srgbClr val="FBA5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MVP · DEDICATED INFERENCE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0" y="4739878"/>
            <a:ext cx="9144000" cy="1381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69"/>
              </a:lnSpc>
              <a:buNone/>
            </a:pPr>
            <a:r>
              <a:rPr lang="en-US" sz="700" spc="113" kern="0" dirty="0">
                <a:solidFill>
                  <a:srgbClr val="5F76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PLANNING → DESIGN → DEVELOPMENT → TESTING → DEPLOYMENT → LAUNCH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548315" y="4976813"/>
            <a:ext cx="481012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5F76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1 / 15</a:t>
            </a:r>
            <a:endParaRPr lang="en-US" sz="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2900"/>
            <a:ext cx="8229600" cy="2000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00" spc="75" kern="0" dirty="0">
                <a:solidFill>
                  <a:srgbClr val="6EC3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WORKSHOP · VIBEFLOW IN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6605" y="618232"/>
            <a:ext cx="1633538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215"/>
              </a:spcAft>
              <a:buNone/>
            </a:pPr>
            <a:r>
              <a:rPr lang="en-US" sz="27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AGENDA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548315" y="4976813"/>
            <a:ext cx="481012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2 / 15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605" y="618232"/>
            <a:ext cx="1633538" cy="4857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352104"/>
            <a:ext cx="8229600" cy="310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3350" indent="-133350">
              <a:lnSpc>
                <a:spcPts val="2501"/>
              </a:lnSpc>
              <a:spcBef>
                <a:spcPts val="1984"/>
              </a:spcBef>
              <a:spcAft>
                <a:spcPts val="1984"/>
              </a:spcAft>
              <a:buSzPct val="100000"/>
              <a:buChar char="•"/>
            </a:pPr>
            <a:r>
              <a:rPr lang="en-US" sz="1725" b="1" dirty="0">
                <a:solidFill>
                  <a:srgbClr val="F9731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​</a:t>
            </a:r>
            <a:pPr algn="l" indent="0" marL="0">
              <a:lnSpc>
                <a:spcPts val="2501"/>
              </a:lnSpc>
              <a:buNone/>
            </a:pPr>
            <a:r>
              <a:rPr lang="en-US" sz="1700" b="1" dirty="0">
                <a:solidFill>
                  <a:srgbClr val="F9731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pPr algn="l" indent="0" marL="0">
              <a:lnSpc>
                <a:spcPts val="2501"/>
              </a:lnSpc>
              <a:spcBef>
                <a:spcPts val="1984"/>
              </a:spcBef>
              <a:spcAft>
                <a:spcPts val="1984"/>
              </a:spcAft>
              <a:buNone/>
            </a:pPr>
            <a:r>
              <a:rPr lang="en-US" sz="17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· Bối cảnh — sản phẩm thật DDI</a:t>
            </a:r>
            <a:endParaRPr lang="en-US" sz="1725" dirty="0"/>
          </a:p>
          <a:p>
            <a:pPr algn="l" marL="133350" indent="-133350">
              <a:lnSpc>
                <a:spcPts val="2501"/>
              </a:lnSpc>
              <a:spcBef>
                <a:spcPts val="1984"/>
              </a:spcBef>
              <a:spcAft>
                <a:spcPts val="1984"/>
              </a:spcAft>
              <a:buSzPct val="100000"/>
              <a:buChar char="•"/>
            </a:pPr>
            <a:r>
              <a:rPr lang="en-US" sz="1725" b="1" dirty="0">
                <a:solidFill>
                  <a:srgbClr val="F9731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​</a:t>
            </a:r>
            <a:pPr algn="l" indent="0" marL="0">
              <a:lnSpc>
                <a:spcPts val="2501"/>
              </a:lnSpc>
              <a:buNone/>
            </a:pPr>
            <a:r>
              <a:rPr lang="en-US" sz="1700" b="1" dirty="0">
                <a:solidFill>
                  <a:srgbClr val="F9731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pPr algn="l" indent="0" marL="0">
              <a:lnSpc>
                <a:spcPts val="2501"/>
              </a:lnSpc>
              <a:spcBef>
                <a:spcPts val="1984"/>
              </a:spcBef>
              <a:spcAft>
                <a:spcPts val="1984"/>
              </a:spcAft>
              <a:buNone/>
            </a:pPr>
            <a:r>
              <a:rPr lang="en-US" sz="17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· Cách làm — 6 pha SDLC × VibeFlow</a:t>
            </a:r>
            <a:endParaRPr lang="en-US" sz="1725" dirty="0"/>
          </a:p>
          <a:p>
            <a:pPr algn="l" marL="133350" indent="-133350">
              <a:lnSpc>
                <a:spcPts val="2501"/>
              </a:lnSpc>
              <a:spcBef>
                <a:spcPts val="1984"/>
              </a:spcBef>
              <a:spcAft>
                <a:spcPts val="1984"/>
              </a:spcAft>
              <a:buSzPct val="100000"/>
              <a:buChar char="•"/>
            </a:pPr>
            <a:r>
              <a:rPr lang="en-US" sz="1725" b="1" dirty="0">
                <a:solidFill>
                  <a:srgbClr val="F9731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​</a:t>
            </a:r>
            <a:pPr algn="l" indent="0" marL="0">
              <a:lnSpc>
                <a:spcPts val="2501"/>
              </a:lnSpc>
              <a:buNone/>
            </a:pPr>
            <a:r>
              <a:rPr lang="en-US" sz="1700" b="1" dirty="0">
                <a:solidFill>
                  <a:srgbClr val="F9731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pPr algn="l" indent="0" marL="0">
              <a:lnSpc>
                <a:spcPts val="2501"/>
              </a:lnSpc>
              <a:spcBef>
                <a:spcPts val="1984"/>
              </a:spcBef>
              <a:spcAft>
                <a:spcPts val="1984"/>
              </a:spcAft>
              <a:buNone/>
            </a:pPr>
            <a:r>
              <a:rPr lang="en-US" sz="17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· Hành trình — artifact thật từng pha</a:t>
            </a:r>
            <a:endParaRPr lang="en-US" sz="1725" dirty="0"/>
          </a:p>
          <a:p>
            <a:pPr algn="l" marL="133350" indent="-133350">
              <a:lnSpc>
                <a:spcPts val="2501"/>
              </a:lnSpc>
              <a:spcBef>
                <a:spcPts val="1984"/>
              </a:spcBef>
              <a:spcAft>
                <a:spcPts val="1984"/>
              </a:spcAft>
              <a:buSzPct val="100000"/>
              <a:buChar char="•"/>
            </a:pPr>
            <a:r>
              <a:rPr lang="en-US" sz="1725" b="1" dirty="0">
                <a:solidFill>
                  <a:srgbClr val="F9731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​</a:t>
            </a:r>
            <a:pPr algn="l" indent="0" marL="0">
              <a:lnSpc>
                <a:spcPts val="2501"/>
              </a:lnSpc>
              <a:buNone/>
            </a:pPr>
            <a:r>
              <a:rPr lang="en-US" sz="1700" b="1" dirty="0">
                <a:solidFill>
                  <a:srgbClr val="F9731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pPr algn="l" indent="0" marL="0">
              <a:lnSpc>
                <a:spcPts val="2501"/>
              </a:lnSpc>
              <a:spcBef>
                <a:spcPts val="1984"/>
              </a:spcBef>
              <a:spcAft>
                <a:spcPts val="1984"/>
              </a:spcAft>
              <a:buNone/>
            </a:pPr>
            <a:r>
              <a:rPr lang="en-US" sz="17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· Con số &amp; bài học</a:t>
            </a:r>
            <a:endParaRPr lang="en-US" sz="1725" dirty="0"/>
          </a:p>
          <a:p>
            <a:pPr algn="l" marL="133350" indent="-133350">
              <a:lnSpc>
                <a:spcPts val="2501"/>
              </a:lnSpc>
              <a:spcBef>
                <a:spcPts val="1984"/>
              </a:spcBef>
              <a:spcAft>
                <a:spcPts val="1984"/>
              </a:spcAft>
              <a:buSzPct val="100000"/>
              <a:buChar char="•"/>
            </a:pPr>
            <a:r>
              <a:rPr lang="en-US" sz="1725" b="1" dirty="0">
                <a:solidFill>
                  <a:srgbClr val="F9731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​</a:t>
            </a:r>
            <a:pPr algn="l" indent="0" marL="0">
              <a:lnSpc>
                <a:spcPts val="2501"/>
              </a:lnSpc>
              <a:buNone/>
            </a:pPr>
            <a:r>
              <a:rPr lang="en-US" sz="1700" b="1" dirty="0">
                <a:solidFill>
                  <a:srgbClr val="F9731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pPr algn="l" indent="0" marL="0">
              <a:lnSpc>
                <a:spcPts val="2501"/>
              </a:lnSpc>
              <a:spcBef>
                <a:spcPts val="1984"/>
              </a:spcBef>
              <a:spcAft>
                <a:spcPts val="1984"/>
              </a:spcAft>
              <a:buNone/>
            </a:pPr>
            <a:r>
              <a:rPr lang="en-US" sz="17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· Demo live — preview &amp; vòng screenshot</a:t>
            </a:r>
            <a:endParaRPr lang="en-US" sz="172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3867"/>
            <a:ext cx="7800975" cy="442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spcAft>
                <a:spcPts val="1114"/>
              </a:spcAft>
              <a:buNone/>
            </a:pPr>
            <a:r>
              <a:rPr lang="en-US" sz="24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DDI — SẢN PHẨM THẬT, KHÔNG PHẢI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08796"/>
            <a:ext cx="3938587" cy="1152525"/>
          </a:xfrm>
          <a:prstGeom prst="roundRect">
            <a:avLst>
              <a:gd name="adj" fmla="val 3278"/>
            </a:avLst>
          </a:prstGeom>
          <a:solidFill>
            <a:srgbClr val="1A2A44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9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Model Catalog Admin — chủ đề dissect hôm nay — chỉ là </a:t>
            </a:r>
            <a:pPr algn="l" indent="0" marL="0">
              <a:lnSpc>
                <a:spcPts val="1969"/>
              </a:lnSpc>
              <a:buNone/>
            </a:pPr>
            <a:r>
              <a:rPr lang="en-US" sz="13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một vòng lặp SDLC</a:t>
            </a:r>
            <a:pPr algn="l" indent="0" marL="0">
              <a:lnSpc>
                <a:spcPts val="1969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trong chuỗi dài đã làm với VibeFlow.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48213" y="966415"/>
            <a:ext cx="3938587" cy="2205037"/>
          </a:xfrm>
          <a:prstGeom prst="roundRect">
            <a:avLst>
              <a:gd name="adj" fmla="val 1075"/>
            </a:avLst>
          </a:prstGeom>
          <a:solidFill>
            <a:srgbClr val="F4F7FB"/>
          </a:solidFill>
          <a:ln w="9525">
            <a:solidFill>
              <a:srgbClr val="6EC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81562" y="1080343"/>
            <a:ext cx="3671888" cy="233362"/>
          </a:xfrm>
          <a:prstGeom prst="roundRect">
            <a:avLst>
              <a:gd name="adj" fmla="val 15993"/>
            </a:avLst>
          </a:prstGeom>
          <a:solidFill>
            <a:srgbClr val="E2E9F2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9"/>
              </a:lnSpc>
              <a:spcAft>
                <a:spcPts val="675"/>
              </a:spcAft>
              <a:buNone/>
            </a:pPr>
            <a:r>
              <a:rPr lang="en-US" sz="700" dirty="0">
                <a:solidFill>
                  <a:srgbClr val="3341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FPT Dedicated Inference Console — My dedicated models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880372" y="1398240"/>
            <a:ext cx="1795462" cy="481012"/>
          </a:xfrm>
          <a:prstGeom prst="roundRect">
            <a:avLst>
              <a:gd name="adj" fmla="val 15057"/>
            </a:avLst>
          </a:prstGeom>
          <a:solidFill>
            <a:srgbClr val="FFFFFF"/>
          </a:solidFill>
          <a:ln w="4763">
            <a:solidFill>
              <a:srgbClr val="D4DEE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00" spc="38" kern="0" dirty="0">
                <a:solidFill>
                  <a:srgbClr val="66788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ENDPOINTS</a:t>
            </a:r>
            <a:pPr algn="l" indent="0" marL="0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1A253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6759178" y="1398240"/>
            <a:ext cx="1795462" cy="481012"/>
          </a:xfrm>
          <a:prstGeom prst="roundRect">
            <a:avLst>
              <a:gd name="adj" fmla="val 15057"/>
            </a:avLst>
          </a:prstGeom>
          <a:solidFill>
            <a:srgbClr val="FFFFFF"/>
          </a:solidFill>
          <a:ln w="4763">
            <a:solidFill>
              <a:srgbClr val="D4DEE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500" spc="38" kern="0" dirty="0">
                <a:solidFill>
                  <a:srgbClr val="66788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ACTIVE</a:t>
            </a:r>
            <a:pPr algn="l" indent="0" marL="0">
              <a:lnSpc>
                <a:spcPts val="1688"/>
              </a:lnSpc>
              <a:buNone/>
            </a:pPr>
            <a:r>
              <a:rPr lang="en-US" sz="1100" b="1" dirty="0">
                <a:solidFill>
                  <a:srgbClr val="177245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</a:t>
            </a:r>
            <a:endParaRPr lang="en-US" sz="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81562" y="1965350"/>
          <a:ext cx="3671888" cy="914400"/>
        </p:xfrm>
        <a:graphic>
          <a:graphicData uri="http://schemas.openxmlformats.org/drawingml/2006/table">
            <a:tbl>
              <a:tblPr/>
              <a:tblGrid>
                <a:gridCol w="1567235"/>
                <a:gridCol w="1118071"/>
                <a:gridCol w="98658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56"/>
                        </a:lnSpc>
                        <a:buNone/>
                      </a:pPr>
                      <a:r>
                        <a:rPr lang="en-US" sz="1100" b="1" spc="38" kern="0" dirty="0">
                          <a:solidFill>
                            <a:srgbClr val="4A5B74"/>
                          </a:solidFill>
                          <a:highlight>
                            <a:srgbClr val="E8EEF6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ENDPOINT</a:t>
                      </a:r>
                      <a:endParaRPr lang="en-US" sz="11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38112" marR="138112" marT="109538" marB="1095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56"/>
                        </a:lnSpc>
                        <a:buNone/>
                      </a:pPr>
                      <a:r>
                        <a:rPr lang="en-US" sz="1100" b="1" spc="38" kern="0" dirty="0">
                          <a:solidFill>
                            <a:srgbClr val="4A5B74"/>
                          </a:solidFill>
                          <a:highlight>
                            <a:srgbClr val="E8EEF6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HARDWARE</a:t>
                      </a:r>
                      <a:endParaRPr lang="en-US" sz="11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38112" marR="138112" marT="109538" marB="1095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56"/>
                        </a:lnSpc>
                        <a:buNone/>
                      </a:pPr>
                      <a:r>
                        <a:rPr lang="en-US" sz="1100" b="1" spc="38" kern="0" dirty="0">
                          <a:solidFill>
                            <a:srgbClr val="4A5B74"/>
                          </a:solidFill>
                          <a:highlight>
                            <a:srgbClr val="E8EEF6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STATUS</a:t>
                      </a:r>
                      <a:endParaRPr lang="en-US" sz="11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38112" marR="138112" marT="109538" marB="1095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2304A"/>
                          </a:solidFill>
                          <a:highlight>
                            <a:srgbClr val="F8FAFC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gemma-4-26b-a4b-it</a:t>
                      </a:r>
                      <a:endParaRPr lang="en-US" sz="12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38112" marR="138112" marT="109538" marB="1095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8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2304A"/>
                          </a:solidFill>
                          <a:highlight>
                            <a:srgbClr val="F8FAFC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GPU-H100-1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09538" marB="1095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53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77245"/>
                          </a:solidFill>
                          <a:highlight>
                            <a:srgbClr val="D9F4E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Running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09538" marB="1095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722500" y="3812530"/>
            <a:ext cx="1552575" cy="547687"/>
          </a:xfrm>
          <a:prstGeom prst="roundRect">
            <a:avLst>
              <a:gd name="adj" fmla="val 14518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00" b="1" spc="38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ALWAYS-ON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60279" y="3812530"/>
            <a:ext cx="2014538" cy="547687"/>
          </a:xfrm>
          <a:prstGeom prst="roundRect">
            <a:avLst>
              <a:gd name="adj" fmla="val 14518"/>
            </a:avLst>
          </a:prstGeom>
          <a:solidFill>
            <a:srgbClr val="123252"/>
          </a:solidFill>
          <a:ln w="9525">
            <a:solidFill>
              <a:srgbClr val="6EC3F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00" b="1" spc="38" kern="0" dirty="0">
                <a:solidFill>
                  <a:srgbClr val="BFE3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RESERVED GPUS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59648" y="3812530"/>
            <a:ext cx="1962150" cy="547687"/>
          </a:xfrm>
          <a:prstGeom prst="roundRect">
            <a:avLst>
              <a:gd name="adj" fmla="val 14518"/>
            </a:avLst>
          </a:prstGeom>
          <a:solidFill>
            <a:srgbClr val="0B3325"/>
          </a:solidFill>
          <a:ln w="9525">
            <a:solidFill>
              <a:srgbClr val="22C55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00" b="1" spc="38" kern="0" dirty="0">
                <a:solidFill>
                  <a:srgbClr val="A7F3D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RATE LIMITS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48315" y="4976813"/>
            <a:ext cx="481012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3 / 15</a:t>
            </a:r>
            <a:endParaRPr lang="en-US" sz="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43867"/>
            <a:ext cx="7800975" cy="4429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" y="1105198"/>
            <a:ext cx="3938587" cy="126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3350" indent="-133350">
              <a:lnSpc>
                <a:spcPts val="1958"/>
              </a:lnSpc>
              <a:spcBef>
                <a:spcPts val="1080"/>
              </a:spcBef>
              <a:spcAft>
                <a:spcPts val="1080"/>
              </a:spcAft>
              <a:buSzPct val="100000"/>
              <a:buChar char="•"/>
            </a:pPr>
            <a:r>
              <a:rPr lang="en-US" sz="1350" b="1" dirty="0">
                <a:solidFill>
                  <a:srgbClr val="F9731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​</a:t>
            </a:r>
            <a:pPr algn="l" indent="0" marL="0">
              <a:lnSpc>
                <a:spcPts val="1958"/>
              </a:lnSpc>
              <a:buNone/>
            </a:pPr>
            <a:r>
              <a:rPr lang="en-US" sz="13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Always-on</a:t>
            </a:r>
            <a:pPr algn="l" indent="0" marL="0">
              <a:lnSpc>
                <a:spcPts val="1958"/>
              </a:lnSpc>
              <a:spcBef>
                <a:spcPts val="1080"/>
              </a:spcBef>
              <a:spcAft>
                <a:spcPts val="1080"/>
              </a:spcAft>
              <a:buNone/>
            </a:pPr>
            <a:r>
              <a:rPr lang="en-US" sz="13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— endpoint riêng, không ngủ</a:t>
            </a:r>
            <a:endParaRPr lang="en-US" sz="1350" dirty="0"/>
          </a:p>
          <a:p>
            <a:pPr algn="l" marL="133350" indent="-133350">
              <a:lnSpc>
                <a:spcPts val="1958"/>
              </a:lnSpc>
              <a:spcBef>
                <a:spcPts val="1080"/>
              </a:spcBef>
              <a:spcAft>
                <a:spcPts val="1080"/>
              </a:spcAft>
              <a:buSzPct val="100000"/>
              <a:buChar char="•"/>
            </a:pPr>
            <a:r>
              <a:rPr lang="en-US" sz="1350" b="1" dirty="0">
                <a:solidFill>
                  <a:srgbClr val="F9731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​</a:t>
            </a:r>
            <a:pPr algn="l" indent="0" marL="0">
              <a:lnSpc>
                <a:spcPts val="1958"/>
              </a:lnSpc>
              <a:buNone/>
            </a:pPr>
            <a:r>
              <a:rPr lang="en-US" sz="13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Reserved GPUs</a:t>
            </a:r>
            <a:pPr algn="l" indent="0" marL="0">
              <a:lnSpc>
                <a:spcPts val="1958"/>
              </a:lnSpc>
              <a:spcBef>
                <a:spcPts val="1080"/>
              </a:spcBef>
              <a:spcAft>
                <a:spcPts val="1080"/>
              </a:spcAft>
              <a:buNone/>
            </a:pPr>
            <a:r>
              <a:rPr lang="en-US" sz="13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— H100 dành riêng, không chia sẻ</a:t>
            </a:r>
            <a:endParaRPr lang="en-US" sz="1350" dirty="0"/>
          </a:p>
          <a:p>
            <a:pPr algn="l" marL="133350" indent="-133350">
              <a:lnSpc>
                <a:spcPts val="1958"/>
              </a:lnSpc>
              <a:spcBef>
                <a:spcPts val="1080"/>
              </a:spcBef>
              <a:spcAft>
                <a:spcPts val="1080"/>
              </a:spcAft>
              <a:buSzPct val="100000"/>
              <a:buChar char="•"/>
            </a:pPr>
            <a:r>
              <a:rPr lang="en-US" sz="1350" b="1" dirty="0">
                <a:solidFill>
                  <a:srgbClr val="F9731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​</a:t>
            </a:r>
            <a:pPr algn="l" indent="0" marL="0">
              <a:lnSpc>
                <a:spcPts val="1958"/>
              </a:lnSpc>
              <a:buNone/>
            </a:pPr>
            <a:r>
              <a:rPr lang="en-US" sz="13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No rate limits</a:t>
            </a:r>
            <a:pPr algn="l" indent="0" marL="0">
              <a:lnSpc>
                <a:spcPts val="1958"/>
              </a:lnSpc>
              <a:spcBef>
                <a:spcPts val="1080"/>
              </a:spcBef>
              <a:spcAft>
                <a:spcPts val="1080"/>
              </a:spcAft>
              <a:buNone/>
            </a:pPr>
            <a:r>
              <a:rPr lang="en-US" sz="13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— cho traffic nghiêm túc</a:t>
            </a:r>
            <a:endParaRPr lang="en-US" sz="13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508796"/>
            <a:ext cx="3938587" cy="1152525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6679" y="342007"/>
            <a:ext cx="7662862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215"/>
              </a:spcAft>
              <a:buNone/>
            </a:pPr>
            <a:r>
              <a:rPr lang="en-US" sz="27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CÁCH LÀM — 6 PHA, 1 CUỘC HỘI THOẠI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65336" y="1038299"/>
            <a:ext cx="1143000" cy="614363"/>
          </a:xfrm>
          <a:prstGeom prst="roundRect">
            <a:avLst>
              <a:gd name="adj" fmla="val 11538"/>
            </a:avLst>
          </a:prstGeom>
          <a:solidFill>
            <a:srgbClr val="123252"/>
          </a:solidFill>
          <a:ln w="9525">
            <a:solidFill>
              <a:srgbClr val="6EC3F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400" b="1" spc="38" kern="0" dirty="0">
                <a:solidFill>
                  <a:srgbClr val="BFE3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93057" y="1159743"/>
            <a:ext cx="209550" cy="3714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00" b="1" dirty="0">
                <a:solidFill>
                  <a:srgbClr val="6EC3F5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187364" y="1038299"/>
            <a:ext cx="1276350" cy="614363"/>
          </a:xfrm>
          <a:prstGeom prst="roundRect">
            <a:avLst>
              <a:gd name="adj" fmla="val 11538"/>
            </a:avLst>
          </a:prstGeom>
          <a:solidFill>
            <a:srgbClr val="123252"/>
          </a:solidFill>
          <a:ln w="9525">
            <a:solidFill>
              <a:srgbClr val="6EC3F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400" b="1" spc="38" kern="0" dirty="0">
                <a:solidFill>
                  <a:srgbClr val="BFE3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48472" y="1159743"/>
            <a:ext cx="209550" cy="3714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00" b="1" dirty="0">
                <a:solidFill>
                  <a:srgbClr val="6EC3F5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842742" y="1038299"/>
            <a:ext cx="1143000" cy="614363"/>
          </a:xfrm>
          <a:prstGeom prst="roundRect">
            <a:avLst>
              <a:gd name="adj" fmla="val 11538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400" b="1" spc="38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0463" y="1159743"/>
            <a:ext cx="209550" cy="3714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00" b="1" dirty="0">
                <a:solidFill>
                  <a:srgbClr val="6EC3F5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364733" y="1038299"/>
            <a:ext cx="1143000" cy="614363"/>
          </a:xfrm>
          <a:prstGeom prst="roundRect">
            <a:avLst>
              <a:gd name="adj" fmla="val 11538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400" b="1" spc="38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92453" y="1159743"/>
            <a:ext cx="209550" cy="3714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00" b="1" dirty="0">
                <a:solidFill>
                  <a:srgbClr val="6EC3F5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885980" y="1038299"/>
            <a:ext cx="1300163" cy="614363"/>
          </a:xfrm>
          <a:prstGeom prst="roundRect">
            <a:avLst>
              <a:gd name="adj" fmla="val 11538"/>
            </a:avLst>
          </a:prstGeom>
          <a:solidFill>
            <a:srgbClr val="0B3325"/>
          </a:solidFill>
          <a:ln w="9525">
            <a:solidFill>
              <a:srgbClr val="22C55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400" b="1" spc="38" kern="0" dirty="0">
                <a:solidFill>
                  <a:srgbClr val="A7F3D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DEPLOY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0118" y="1159743"/>
            <a:ext cx="209550" cy="3714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00" b="1" dirty="0">
                <a:solidFill>
                  <a:srgbClr val="6EC3F5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902869" y="1738387"/>
            <a:ext cx="1338262" cy="614363"/>
          </a:xfrm>
          <a:prstGeom prst="roundRect">
            <a:avLst>
              <a:gd name="adj" fmla="val 11538"/>
            </a:avLst>
          </a:prstGeom>
          <a:solidFill>
            <a:srgbClr val="0B3325"/>
          </a:solidFill>
          <a:ln w="9525">
            <a:solidFill>
              <a:srgbClr val="22C55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38"/>
              </a:lnSpc>
              <a:buNone/>
            </a:pPr>
            <a:r>
              <a:rPr lang="en-US" sz="1400" b="1" spc="38" kern="0" dirty="0">
                <a:solidFill>
                  <a:srgbClr val="A7F3D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LAUNCH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4377" y="2545631"/>
            <a:ext cx="1547813" cy="2143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88"/>
              </a:lnSpc>
              <a:spcBef>
                <a:spcPts val="281"/>
              </a:spcBef>
              <a:spcAft>
                <a:spcPts val="281"/>
              </a:spcAft>
              <a:buNone/>
            </a:pPr>
            <a:r>
              <a:rPr lang="en-US" sz="1100" b="1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BA agent · BRD/SRS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1999" y="2545631"/>
            <a:ext cx="1719263" cy="2143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88"/>
              </a:lnSpc>
              <a:spcBef>
                <a:spcPts val="281"/>
              </a:spcBef>
              <a:spcAft>
                <a:spcPts val="281"/>
              </a:spcAft>
              <a:buNone/>
            </a:pPr>
            <a:r>
              <a:rPr lang="en-US" sz="1100" b="1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SA · prototype · ADR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1518" y="2545631"/>
            <a:ext cx="1804988" cy="2143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88"/>
              </a:lnSpc>
              <a:spcBef>
                <a:spcPts val="281"/>
              </a:spcBef>
              <a:spcAft>
                <a:spcPts val="281"/>
              </a:spcAft>
              <a:buNone/>
            </a:pPr>
            <a:r>
              <a:rPr lang="en-US" sz="1100" b="1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Dev agent · fullstack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86054" y="2545631"/>
            <a:ext cx="1290638" cy="2143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88"/>
              </a:lnSpc>
              <a:spcBef>
                <a:spcPts val="281"/>
              </a:spcBef>
              <a:spcAft>
                <a:spcPts val="281"/>
              </a:spcAft>
              <a:buNone/>
            </a:pPr>
            <a:r>
              <a:rPr lang="en-US" sz="1100" b="1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e2e · chạy thật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78001" y="3002831"/>
            <a:ext cx="1290638" cy="2143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88"/>
              </a:lnSpc>
              <a:spcBef>
                <a:spcPts val="281"/>
              </a:spcBef>
              <a:spcAft>
                <a:spcPts val="281"/>
              </a:spcAft>
              <a:buNone/>
            </a:pPr>
            <a:r>
              <a:rPr lang="en-US" sz="1100" b="1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preview compose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7034" y="3002831"/>
            <a:ext cx="1119188" cy="2143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88"/>
              </a:lnSpc>
              <a:spcBef>
                <a:spcPts val="281"/>
              </a:spcBef>
              <a:spcAft>
                <a:spcPts val="281"/>
              </a:spcAft>
              <a:buNone/>
            </a:pPr>
            <a:r>
              <a:rPr lang="en-US" sz="1100" b="1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sản phẩm live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48124"/>
            <a:ext cx="8229600" cy="981075"/>
          </a:xfrm>
          <a:prstGeom prst="roundRect">
            <a:avLst>
              <a:gd name="adj" fmla="val 4524"/>
            </a:avLst>
          </a:prstGeom>
          <a:solidFill>
            <a:srgbClr val="241A10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Human-in-the-loop:</a:t>
            </a:r>
            <a:pPr algn="l" indent="0" marL="0">
              <a:lnSpc>
                <a:spcPts val="2138"/>
              </a:lnSpc>
              <a:spcBef>
                <a:spcPts val="750"/>
              </a:spcBef>
              <a:buNone/>
            </a:pPr>
            <a:r>
              <a:rPr lang="en-US" sz="14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VibeFlow đề xuất &amp; thực thi — </a:t>
            </a:r>
            <a:pPr algn="l" indent="0" marL="0">
              <a:lnSpc>
                <a:spcPts val="2138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con người quyết định</a:t>
            </a:r>
            <a:pPr algn="l" indent="0" marL="0">
              <a:lnSpc>
                <a:spcPts val="2138"/>
              </a:lnSpc>
              <a:spcBef>
                <a:spcPts val="750"/>
              </a:spcBef>
              <a:buNone/>
            </a:pPr>
            <a:r>
              <a:rPr lang="en-US" sz="14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tại từng gate.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48315" y="4976813"/>
            <a:ext cx="481012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4 / 15</a:t>
            </a:r>
            <a:endParaRPr lang="en-US" sz="5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679" y="342007"/>
            <a:ext cx="7662862" cy="485775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448124"/>
            <a:ext cx="8229600" cy="981075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6121" y="342007"/>
            <a:ext cx="6810375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215"/>
              </a:spcAft>
              <a:buNone/>
            </a:pPr>
            <a:r>
              <a:rPr lang="en-US" sz="27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 — BRD TỪ MỘT CÂU YÊU CẦU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76399"/>
            <a:ext cx="8229600" cy="738188"/>
          </a:xfrm>
          <a:prstGeom prst="roundRect">
            <a:avLst>
              <a:gd name="adj" fmla="val 7992"/>
            </a:avLst>
          </a:prstGeom>
          <a:solidFill>
            <a:srgbClr val="241A10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1"/>
              </a:lnSpc>
              <a:spcBef>
                <a:spcPts val="750"/>
              </a:spcBef>
              <a:buNone/>
            </a:pPr>
            <a:r>
              <a:rPr lang="en-US" sz="700" dirty="0">
                <a:solidFill>
                  <a:srgbClr val="EEF4F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“Tôi muốn dựng hệ thống admin để khai báo model catalog cho Dedicated Inference. Cho tôi 1 số option như feed từ HF về, tự khai báo bằng admin.”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1910544"/>
            <a:ext cx="4010025" cy="1947862"/>
          </a:xfrm>
          <a:prstGeom prst="roundRect">
            <a:avLst>
              <a:gd name="adj" fmla="val 1607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7712" y="2162249"/>
            <a:ext cx="3429000" cy="6286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spcAft>
                <a:spcPts val="743"/>
              </a:spcAft>
              <a:buNone/>
            </a:pPr>
            <a:r>
              <a:rPr lang="en-US" sz="16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VIBEFLOW (BA AGENT) TRẢ VỀ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7712" y="2883991"/>
            <a:ext cx="3429000" cy="22383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spcAft>
                <a:spcPts val="225"/>
              </a:spcAft>
              <a:buNone/>
            </a:pPr>
            <a:r>
              <a:rPr lang="en-US" sz="11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BRD v1.1 · 13 FR · 4 phương án A–D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7712" y="3135213"/>
            <a:ext cx="3429000" cy="44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spcAft>
                <a:spcPts val="225"/>
              </a:spcAft>
              <a:buNone/>
            </a:pPr>
            <a:r>
              <a:rPr lang="en-US" sz="11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A: HF trực tiếp · B: mirror nội bộ · C: manual · </a:t>
            </a:r>
            <a:pPr algn="l" indent="0" marL="0">
              <a:lnSpc>
                <a:spcPts val="1744"/>
              </a:lnSpc>
              <a:buNone/>
            </a:pPr>
            <a:r>
              <a:rPr lang="en-US" sz="1100" b="1" dirty="0">
                <a:solidFill>
                  <a:srgbClr val="6EC3F5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D: hybrid 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76775" y="1910544"/>
            <a:ext cx="4010025" cy="1947862"/>
          </a:xfrm>
          <a:prstGeom prst="roundRect">
            <a:avLst>
              <a:gd name="adj" fmla="val 1607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7287" y="2162249"/>
            <a:ext cx="3429000" cy="3143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spcAft>
                <a:spcPts val="743"/>
              </a:spcAft>
              <a:buNone/>
            </a:pPr>
            <a:r>
              <a:rPr lang="en-US" sz="16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 CÂU HỎI MỞ → USER CHỐT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67287" y="2569666"/>
            <a:ext cx="3429000" cy="22383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spcAft>
                <a:spcPts val="225"/>
              </a:spcAft>
              <a:buNone/>
            </a:pPr>
            <a:r>
              <a:rPr lang="en-US" sz="11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Nguồn HF hay mirror? · Mấy cấp duyệt?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7287" y="2819698"/>
            <a:ext cx="3429000" cy="22383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4"/>
              </a:lnSpc>
              <a:spcAft>
                <a:spcPts val="225"/>
              </a:spcAft>
              <a:buNone/>
            </a:pPr>
            <a:r>
              <a:rPr lang="en-US" sz="11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Model độc quyền? · Giá? · Auto-sync?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73413"/>
            <a:ext cx="8229600" cy="709613"/>
          </a:xfrm>
          <a:prstGeom prst="roundRect">
            <a:avLst>
              <a:gd name="adj" fmla="val 8648"/>
            </a:avLst>
          </a:prstGeom>
          <a:solidFill>
            <a:srgbClr val="1A2A44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spcBef>
                <a:spcPts val="900"/>
              </a:spcBef>
              <a:buNone/>
            </a:pPr>
            <a:r>
              <a:rPr lang="en-US" sz="14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 Chốt </a:t>
            </a:r>
            <a:pPr algn="l" indent="0" marL="0">
              <a:lnSpc>
                <a:spcPts val="2138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phương án D — hybrid</a:t>
            </a:r>
            <a:pPr algn="l" indent="0" marL="0">
              <a:lnSpc>
                <a:spcPts val="2138"/>
              </a:lnSpc>
              <a:spcBef>
                <a:spcPts val="900"/>
              </a:spcBef>
              <a:buNone/>
            </a:pPr>
            <a:r>
              <a:rPr lang="en-US" sz="14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: HF nguồn chính + manual + batch (Phase 2).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48315" y="4976813"/>
            <a:ext cx="481012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5 / 15</a:t>
            </a:r>
            <a:endParaRPr lang="en-US" sz="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121" y="342007"/>
            <a:ext cx="6810375" cy="485775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076399"/>
            <a:ext cx="8229600" cy="73818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3973413"/>
            <a:ext cx="8229600" cy="709613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6158" y="342751"/>
            <a:ext cx="7639050" cy="419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4"/>
              </a:lnSpc>
              <a:spcAft>
                <a:spcPts val="1046"/>
              </a:spcAft>
              <a:buNone/>
            </a:pPr>
            <a:r>
              <a:rPr lang="en-US" sz="23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PLAN — 5 QUYẾT ĐỊNH SẢN PHẨM (LỜI USER)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981" y="1009055"/>
            <a:ext cx="2614613" cy="1533525"/>
          </a:xfrm>
          <a:prstGeom prst="roundRect">
            <a:avLst>
              <a:gd name="adj" fmla="val 25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0394" y="1242194"/>
            <a:ext cx="2109788" cy="2714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spcAft>
                <a:spcPts val="641"/>
              </a:spcAft>
              <a:buNone/>
            </a:pPr>
            <a:r>
              <a:rPr lang="en-US" sz="14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MIRROR NỘI BỘ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0394" y="1593875"/>
            <a:ext cx="2109788" cy="6238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1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“b” — pull weights về S3 nội, deploy từ mirror, checksum SHA-256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657" y="1009055"/>
            <a:ext cx="2614613" cy="1533525"/>
          </a:xfrm>
          <a:prstGeom prst="roundRect">
            <a:avLst>
              <a:gd name="adj" fmla="val 25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7069" y="1242194"/>
            <a:ext cx="2109788" cy="2714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spcAft>
                <a:spcPts val="641"/>
              </a:spcAft>
              <a:buNone/>
            </a:pPr>
            <a:r>
              <a:rPr lang="en-US" sz="14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CẤP DUYỆT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17069" y="1595065"/>
            <a:ext cx="2109788" cy="41433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1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Admin duyệt; quyền cấp theo role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71332" y="1009055"/>
            <a:ext cx="2614613" cy="1533525"/>
          </a:xfrm>
          <a:prstGeom prst="roundRect">
            <a:avLst>
              <a:gd name="adj" fmla="val 25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3744" y="1242194"/>
            <a:ext cx="2109788" cy="5429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spcAft>
                <a:spcPts val="641"/>
              </a:spcAft>
              <a:buNone/>
            </a:pPr>
            <a:r>
              <a:rPr lang="en-US" sz="14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PROPRIETARY TÁCH RIÊNG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3744" y="1866528"/>
            <a:ext cx="2109788" cy="41433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1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catalog_type: public / proprietary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981" y="2733526"/>
            <a:ext cx="2614613" cy="1533525"/>
          </a:xfrm>
          <a:prstGeom prst="roundRect">
            <a:avLst>
              <a:gd name="adj" fmla="val 25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0394" y="2966665"/>
            <a:ext cx="2109788" cy="2714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spcAft>
                <a:spcPts val="641"/>
              </a:spcAft>
              <a:buNone/>
            </a:pPr>
            <a:r>
              <a:rPr lang="en-US" sz="14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GIÁ TỰ KHAI BÁO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0394" y="3319537"/>
            <a:ext cx="2109788" cy="41433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1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USD/GPU/h theo từng hardware profile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4657" y="2733526"/>
            <a:ext cx="2614613" cy="1533525"/>
          </a:xfrm>
          <a:prstGeom prst="roundRect">
            <a:avLst>
              <a:gd name="adj" fmla="val 25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7069" y="2966665"/>
            <a:ext cx="2109788" cy="5429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spcAft>
                <a:spcPts val="641"/>
              </a:spcAft>
              <a:buNone/>
            </a:pPr>
            <a:r>
              <a:rPr lang="en-US" sz="14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AUTO-SYNC REVISION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17069" y="3589809"/>
            <a:ext cx="2109788" cy="2095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1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Theo lịch, toggle từng entry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71332" y="2733526"/>
            <a:ext cx="2614613" cy="1533525"/>
          </a:xfrm>
          <a:prstGeom prst="roundRect">
            <a:avLst>
              <a:gd name="adj" fmla="val 25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3744" y="2966665"/>
            <a:ext cx="2109788" cy="5429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spcAft>
                <a:spcPts val="641"/>
              </a:spcAft>
              <a:buNone/>
            </a:pPr>
            <a:r>
              <a:rPr lang="en-US" sz="14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HF_MODEL_ID BẮT BUỘC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3744" y="3590999"/>
            <a:ext cx="2109788" cy="41433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1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Kể cả model độc quyền: </a:t>
            </a:r>
            <a:pPr algn="l" indent="0" marL="0">
              <a:lnSpc>
                <a:spcPts val="1631"/>
              </a:lnSpc>
              <a:buNone/>
            </a:pPr>
            <a:r>
              <a:rPr lang="en-US" sz="10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fpt-internal/…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48315" y="4976813"/>
            <a:ext cx="481012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6 / 15</a:t>
            </a:r>
            <a:endParaRPr lang="en-US" sz="5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158" y="342751"/>
            <a:ext cx="7639050" cy="41910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3495"/>
            <a:ext cx="8229600" cy="866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215"/>
              </a:spcAft>
              <a:buNone/>
            </a:pPr>
            <a:r>
              <a:rPr lang="en-US" sz="27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— SRS + KHÁM PHÁ TÍCH HỢP THẬT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2500" y="1555440"/>
          <a:ext cx="3924300" cy="914400"/>
        </p:xfrm>
        <a:graphic>
          <a:graphicData uri="http://schemas.openxmlformats.org/drawingml/2006/table">
            <a:tbl>
              <a:tblPr/>
              <a:tblGrid>
                <a:gridCol w="2119982"/>
                <a:gridCol w="180431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60"/>
                        </a:lnSpc>
                        <a:buNone/>
                      </a:pPr>
                      <a:r>
                        <a:rPr lang="en-US" sz="1100" b="1" spc="38" kern="0" dirty="0">
                          <a:solidFill>
                            <a:srgbClr val="BFE3FB"/>
                          </a:solidFill>
                          <a:highlight>
                            <a:srgbClr val="1D2C47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REUSE</a:t>
                      </a:r>
                      <a:endParaRPr lang="en-US" sz="11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60"/>
                        </a:lnSpc>
                        <a:buNone/>
                      </a:pPr>
                      <a:r>
                        <a:rPr lang="en-US" sz="1100" b="1" spc="38" kern="0" dirty="0">
                          <a:solidFill>
                            <a:srgbClr val="BFE3FB"/>
                          </a:solidFill>
                          <a:highlight>
                            <a:srgbClr val="1D2C47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GAP → ADMIN LO</a:t>
                      </a:r>
                      <a:endParaRPr lang="en-US" sz="11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1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catalog CRUD, categories, hardware_profiles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1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approval, catalog_type, mirror, sync, audit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62500" y="3084016"/>
            <a:ext cx="3924300" cy="1252537"/>
          </a:xfrm>
          <a:prstGeom prst="roundRect">
            <a:avLst>
              <a:gd name="adj" fmla="val 2776"/>
            </a:avLst>
          </a:prstGeom>
          <a:solidFill>
            <a:srgbClr val="1A2A44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spcBef>
                <a:spcPts val="900"/>
              </a:spcBef>
              <a:buNone/>
            </a:pPr>
            <a:r>
              <a:rPr lang="en-US" sz="14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Admin = </a:t>
            </a:r>
            <a:pPr algn="l" indent="0" marL="0">
              <a:lnSpc>
                <a:spcPts val="2138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workflow orchestrator</a:t>
            </a:r>
            <a:pPr algn="l" indent="0" marL="0">
              <a:lnSpc>
                <a:spcPts val="2138"/>
              </a:lnSpc>
              <a:spcBef>
                <a:spcPts val="900"/>
              </a:spcBef>
              <a:buNone/>
            </a:pPr>
            <a:r>
              <a:rPr lang="en-US" sz="14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, publish idempotent sang BFF — không chờ đội BFF.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48315" y="4976813"/>
            <a:ext cx="481012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7 / 15</a:t>
            </a:r>
            <a:endParaRPr lang="en-US" sz="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43495"/>
            <a:ext cx="8229600" cy="8667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796430"/>
            <a:ext cx="3924300" cy="2581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3350" indent="-133350">
              <a:lnSpc>
                <a:spcPts val="2610"/>
              </a:lnSpc>
              <a:spcBef>
                <a:spcPts val="2340"/>
              </a:spcBef>
              <a:spcAft>
                <a:spcPts val="2340"/>
              </a:spcAft>
              <a:buSzPct val="100000"/>
              <a:buChar char="•"/>
            </a:pPr>
            <a:r>
              <a:rPr lang="en-US" sz="1800" dirty="0">
                <a:solidFill>
                  <a:srgbClr val="F9731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​</a:t>
            </a:r>
            <a:pPr algn="l" indent="0" marL="0">
              <a:lnSpc>
                <a:spcPts val="2610"/>
              </a:lnSpc>
              <a:spcBef>
                <a:spcPts val="2340"/>
              </a:spcBef>
              <a:spcAft>
                <a:spcPts val="2340"/>
              </a:spcAft>
              <a:buNone/>
            </a:pPr>
            <a:r>
              <a:rPr lang="en-US" sz="18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SRS: </a:t>
            </a:r>
            <a:pPr algn="l"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14 FR · 9 NFR · RTM</a:t>
            </a:r>
            <a:pPr algn="l" indent="0" marL="0">
              <a:lnSpc>
                <a:spcPts val="2610"/>
              </a:lnSpc>
              <a:spcBef>
                <a:spcPts val="2340"/>
              </a:spcBef>
              <a:spcAft>
                <a:spcPts val="2340"/>
              </a:spcAft>
              <a:buNone/>
            </a:pPr>
            <a:r>
              <a:rPr lang="en-US" sz="18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· data dictionary</a:t>
            </a:r>
            <a:endParaRPr lang="en-US" sz="1800" dirty="0"/>
          </a:p>
          <a:p>
            <a:pPr algn="l" marL="133350" indent="-133350">
              <a:lnSpc>
                <a:spcPts val="2610"/>
              </a:lnSpc>
              <a:spcBef>
                <a:spcPts val="2340"/>
              </a:spcBef>
              <a:spcAft>
                <a:spcPts val="2340"/>
              </a:spcAft>
              <a:buSzPct val="100000"/>
              <a:buChar char="•"/>
            </a:pPr>
            <a:r>
              <a:rPr lang="en-US" sz="1800" dirty="0">
                <a:solidFill>
                  <a:srgbClr val="F9731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​</a:t>
            </a:r>
            <a:pPr algn="l" indent="0" marL="0">
              <a:lnSpc>
                <a:spcPts val="2610"/>
              </a:lnSpc>
              <a:spcBef>
                <a:spcPts val="2340"/>
              </a:spcBef>
              <a:spcAft>
                <a:spcPts val="2340"/>
              </a:spcAft>
              <a:buNone/>
            </a:pPr>
            <a:r>
              <a:rPr lang="en-US" sz="18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User cung cấp </a:t>
            </a:r>
            <a:pPr algn="l" indent="0" marL="0">
              <a:lnSpc>
                <a:spcPts val="2610"/>
              </a:lnSpc>
              <a:buNone/>
            </a:pPr>
            <a:r>
              <a:rPr lang="en-US" sz="18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Postman collection</a:t>
            </a:r>
            <a:pPr algn="l" indent="0" marL="0">
              <a:lnSpc>
                <a:spcPts val="2610"/>
              </a:lnSpc>
              <a:spcBef>
                <a:spcPts val="2340"/>
              </a:spcBef>
              <a:spcAft>
                <a:spcPts val="2340"/>
              </a:spcAft>
              <a:buNone/>
            </a:pPr>
            <a:r>
              <a:rPr lang="en-US" sz="18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BFF portal</a:t>
            </a:r>
            <a:endParaRPr lang="en-US" sz="1800" dirty="0"/>
          </a:p>
          <a:p>
            <a:pPr algn="l" marL="133350" indent="-133350">
              <a:lnSpc>
                <a:spcPts val="2610"/>
              </a:lnSpc>
              <a:spcBef>
                <a:spcPts val="2340"/>
              </a:spcBef>
              <a:spcAft>
                <a:spcPts val="2340"/>
              </a:spcAft>
              <a:buSzPct val="100000"/>
              <a:buChar char="•"/>
            </a:pPr>
            <a:r>
              <a:rPr lang="en-US" sz="1800" dirty="0">
                <a:solidFill>
                  <a:srgbClr val="F9731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​</a:t>
            </a:r>
            <a:pPr algn="l" indent="0" marL="0">
              <a:lnSpc>
                <a:spcPts val="2610"/>
              </a:lnSpc>
              <a:spcBef>
                <a:spcPts val="2340"/>
              </a:spcBef>
              <a:spcAft>
                <a:spcPts val="2340"/>
              </a:spcAft>
              <a:buNone/>
            </a:pPr>
            <a:r>
              <a:rPr lang="en-US" sz="18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Phân tích reuse / gap trước khi thiết kế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3084016"/>
            <a:ext cx="3924300" cy="1252537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3495"/>
            <a:ext cx="8229600" cy="866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215"/>
              </a:spcAft>
              <a:buNone/>
            </a:pPr>
            <a:r>
              <a:rPr lang="en-US" sz="27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DESIGN — PROTOTYPE · STORIES · KIẾN TRÚC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6381" y="1517042"/>
            <a:ext cx="2605087" cy="1866900"/>
          </a:xfrm>
          <a:prstGeom prst="roundRect">
            <a:avLst>
              <a:gd name="adj" fmla="val 1749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6894" y="1788988"/>
            <a:ext cx="2024062" cy="3143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spcAft>
                <a:spcPts val="743"/>
              </a:spcAft>
              <a:buNone/>
            </a:pPr>
            <a:r>
              <a:rPr lang="en-US" sz="16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6894" y="2197596"/>
            <a:ext cx="2024062" cy="2143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spcAft>
                <a:spcPts val="225"/>
              </a:spcAft>
              <a:buNone/>
            </a:pPr>
            <a:r>
              <a:rPr lang="en-US" sz="11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7 màn hình M1–M7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6894" y="2440484"/>
            <a:ext cx="2024062" cy="4286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spcAft>
                <a:spcPts val="225"/>
              </a:spcAft>
              <a:buNone/>
            </a:pPr>
            <a:r>
              <a:rPr lang="en-US" sz="11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role matrix · 10 edge cases · UAT checklist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9419" y="1517042"/>
            <a:ext cx="2605087" cy="1866900"/>
          </a:xfrm>
          <a:prstGeom prst="roundRect">
            <a:avLst>
              <a:gd name="adj" fmla="val 1749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9932" y="1788988"/>
            <a:ext cx="2024062" cy="3143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spcAft>
                <a:spcPts val="743"/>
              </a:spcAft>
              <a:buNone/>
            </a:pPr>
            <a:r>
              <a:rPr lang="en-US" sz="16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59932" y="2197596"/>
            <a:ext cx="2024062" cy="2143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spcAft>
                <a:spcPts val="225"/>
              </a:spcAft>
              <a:buNone/>
            </a:pPr>
            <a:r>
              <a:rPr lang="en-US" sz="11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19 US · 12 epics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59932" y="2440484"/>
            <a:ext cx="2024062" cy="2143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spcAft>
                <a:spcPts val="225"/>
              </a:spcAft>
              <a:buNone/>
            </a:pPr>
            <a:r>
              <a:rPr lang="en-US" sz="11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AC dạng Given-When-Then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2494" y="1517042"/>
            <a:ext cx="2605087" cy="1866900"/>
          </a:xfrm>
          <a:prstGeom prst="roundRect">
            <a:avLst>
              <a:gd name="adj" fmla="val 1749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006" y="1788988"/>
            <a:ext cx="2024062" cy="3143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spcAft>
                <a:spcPts val="743"/>
              </a:spcAft>
              <a:buNone/>
            </a:pPr>
            <a:r>
              <a:rPr lang="en-US" sz="16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3006" y="2197596"/>
            <a:ext cx="2024062" cy="4286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spcAft>
                <a:spcPts val="225"/>
              </a:spcAft>
              <a:buNone/>
            </a:pPr>
            <a:r>
              <a:rPr lang="en-US" sz="11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5 ADR · 17 endpoints · DB 4 bảng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3006" y="2654796"/>
            <a:ext cx="2024062" cy="4286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spcAft>
                <a:spcPts val="225"/>
              </a:spcAft>
              <a:buNone/>
            </a:pPr>
            <a:r>
              <a:rPr lang="en-US" sz="11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topology deploy · security · monitoring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78709"/>
            <a:ext cx="8229600" cy="981075"/>
          </a:xfrm>
          <a:prstGeom prst="roundRect">
            <a:avLst>
              <a:gd name="adj" fmla="val 4524"/>
            </a:avLst>
          </a:prstGeom>
          <a:solidFill>
            <a:srgbClr val="241A10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Quality gate:</a:t>
            </a:r>
            <a:pPr algn="l" indent="0" marL="0">
              <a:lnSpc>
                <a:spcPts val="2138"/>
              </a:lnSpc>
              <a:spcBef>
                <a:spcPts val="750"/>
              </a:spcBef>
              <a:buNone/>
            </a:pPr>
            <a:r>
              <a:rPr lang="en-US" sz="14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review “đủ điều kiện dev chưa?” → </a:t>
            </a:r>
            <a:pPr algn="l" indent="0" marL="0">
              <a:lnSpc>
                <a:spcPts val="2138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Conditionally ready</a:t>
            </a:r>
            <a:pPr algn="l" indent="0" marL="0">
              <a:lnSpc>
                <a:spcPts val="2138"/>
              </a:lnSpc>
              <a:spcBef>
                <a:spcPts val="750"/>
              </a:spcBef>
              <a:buNone/>
            </a:pPr>
            <a:r>
              <a:rPr lang="en-US" sz="14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· 4 blockers B1–B4 · Sprint 0 gỡ — </a:t>
            </a:r>
            <a:pPr algn="l" indent="0" marL="0">
              <a:lnSpc>
                <a:spcPts val="2138"/>
              </a:lnSpc>
              <a:buNone/>
            </a:pPr>
            <a:r>
              <a:rPr lang="en-US" sz="1400" i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review trước khi code</a:t>
            </a:r>
            <a:pPr algn="l" indent="0" marL="0">
              <a:lnSpc>
                <a:spcPts val="2138"/>
              </a:lnSpc>
              <a:spcBef>
                <a:spcPts val="750"/>
              </a:spcBef>
              <a:buNone/>
            </a:pPr>
            <a:r>
              <a:rPr lang="en-US" sz="14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8315" y="4976813"/>
            <a:ext cx="481012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8 / 15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43495"/>
            <a:ext cx="8229600" cy="866775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478709"/>
            <a:ext cx="8229600" cy="98107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6456" y="342007"/>
            <a:ext cx="5967412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215"/>
              </a:spcAft>
              <a:buNone/>
            </a:pPr>
            <a:r>
              <a:rPr lang="en-US" sz="27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 — DEV AGENT THỰC THI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33066"/>
            <a:ext cx="1900238" cy="1962150"/>
          </a:xfrm>
          <a:prstGeom prst="roundRect">
            <a:avLst>
              <a:gd name="adj" fmla="val 1688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7713" y="1424062"/>
            <a:ext cx="1319213" cy="3143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spcAft>
                <a:spcPts val="743"/>
              </a:spcAft>
              <a:buNone/>
            </a:pPr>
            <a:r>
              <a:rPr lang="en-US" sz="16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7713" y="1832670"/>
            <a:ext cx="1319213" cy="2286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migration 015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7713" y="2089845"/>
            <a:ext cx="1319213" cy="4572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4 bảng mc_* + seed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6988" y="1133066"/>
            <a:ext cx="1900238" cy="1962150"/>
          </a:xfrm>
          <a:prstGeom prst="roundRect">
            <a:avLst>
              <a:gd name="adj" fmla="val 1688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7500" y="1424062"/>
            <a:ext cx="1319213" cy="3143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spcAft>
                <a:spcPts val="743"/>
              </a:spcAft>
              <a:buNone/>
            </a:pPr>
            <a:r>
              <a:rPr lang="en-US" sz="16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57500" y="1832670"/>
            <a:ext cx="1319213" cy="2286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6 module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57500" y="2089845"/>
            <a:ext cx="1319213" cy="6858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store · hf · publish · mirror · routes · config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76775" y="1133066"/>
            <a:ext cx="1900238" cy="1962150"/>
          </a:xfrm>
          <a:prstGeom prst="roundRect">
            <a:avLst>
              <a:gd name="adj" fmla="val 1688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7287" y="1424062"/>
            <a:ext cx="1319213" cy="3143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spcAft>
                <a:spcPts val="743"/>
              </a:spcAft>
              <a:buNone/>
            </a:pPr>
            <a:r>
              <a:rPr lang="en-US" sz="16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67287" y="1832670"/>
            <a:ext cx="1319213" cy="2286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SPA vanilla 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7287" y="2089845"/>
            <a:ext cx="1319213" cy="6858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7 màn hình, theme khớp console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86563" y="1133066"/>
            <a:ext cx="1900238" cy="1962150"/>
          </a:xfrm>
          <a:prstGeom prst="roundRect">
            <a:avLst>
              <a:gd name="adj" fmla="val 1688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075" y="1424062"/>
            <a:ext cx="1319213" cy="31432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spcAft>
                <a:spcPts val="743"/>
              </a:spcAft>
              <a:buNone/>
            </a:pPr>
            <a:r>
              <a:rPr lang="en-US" sz="16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DEPLOY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77075" y="1832670"/>
            <a:ext cx="1319213" cy="4572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Caddy prod + preview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77075" y="2318445"/>
            <a:ext cx="1319213" cy="4572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spcAft>
                <a:spcPts val="225"/>
              </a:spcAft>
              <a:buNone/>
            </a:pPr>
            <a:r>
              <a:rPr lang="en-US" sz="12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route /admin · Helm sẵn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09032"/>
            <a:ext cx="8229600" cy="981075"/>
          </a:xfrm>
          <a:prstGeom prst="roundRect">
            <a:avLst>
              <a:gd name="adj" fmla="val 4524"/>
            </a:avLst>
          </a:prstGeom>
          <a:solidFill>
            <a:srgbClr val="1A2A44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Reuse code hiện có</a:t>
            </a:r>
            <a:pPr algn="l" indent="0" marL="0">
              <a:lnSpc>
                <a:spcPts val="2138"/>
              </a:lnSpc>
              <a:spcBef>
                <a:spcPts val="900"/>
              </a:spcBef>
              <a:buNone/>
            </a:pPr>
            <a:r>
              <a:rPr lang="en-US" sz="14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(code graph): audit_log · byom processor (HF/S3) · keys RBAC — không phát minh lại.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8315" y="4976813"/>
            <a:ext cx="481012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9 / 15</a:t>
            </a:r>
            <a:endParaRPr lang="en-US" sz="5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6456" y="342007"/>
            <a:ext cx="5967412" cy="485775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209032"/>
            <a:ext cx="8229600" cy="981075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758" y="342007"/>
            <a:ext cx="7177088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215"/>
              </a:spcAft>
              <a:buNone/>
            </a:pPr>
            <a:r>
              <a:rPr lang="en-US" sz="27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 — CHẠY THẬT, KHÔNG CHỈ VIẾT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14499"/>
            <a:ext cx="3924300" cy="7143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25"/>
              </a:lnSpc>
              <a:buNone/>
            </a:pPr>
            <a:r>
              <a:rPr lang="en-US" sz="5600" b="1" dirty="0">
                <a:solidFill>
                  <a:srgbClr val="F9731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36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869058"/>
            <a:ext cx="3924300" cy="2095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31"/>
              </a:lnSpc>
              <a:spcBef>
                <a:spcPts val="326"/>
              </a:spcBef>
              <a:buNone/>
            </a:pPr>
            <a:r>
              <a:rPr lang="en-US" sz="10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e2e checks PASS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72667"/>
            <a:ext cx="3924300" cy="8572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spcBef>
                <a:spcPts val="75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PG + Redis thật (podman) · RBAC · workflow · mirror · categories · audit · HF fetch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2500" y="1171463"/>
          <a:ext cx="3924300" cy="914400"/>
        </p:xfrm>
        <a:graphic>
          <a:graphicData uri="http://schemas.openxmlformats.org/drawingml/2006/table">
            <a:tbl>
              <a:tblPr/>
              <a:tblGrid>
                <a:gridCol w="2510135"/>
                <a:gridCol w="141416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60"/>
                        </a:lnSpc>
                        <a:buNone/>
                      </a:pPr>
                      <a:r>
                        <a:rPr lang="en-US" sz="1100" b="1" spc="38" kern="0" dirty="0">
                          <a:solidFill>
                            <a:srgbClr val="BFE3FB"/>
                          </a:solidFill>
                          <a:highlight>
                            <a:srgbClr val="1D2C47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BUG TÌM RA KHI CHẠY</a:t>
                      </a:r>
                      <a:endParaRPr lang="en-US" sz="11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60"/>
                        </a:lnSpc>
                        <a:buNone/>
                      </a:pPr>
                      <a:r>
                        <a:rPr lang="en-US" sz="1100" b="1" spc="38" kern="0" dirty="0">
                          <a:solidFill>
                            <a:srgbClr val="BFE3FB"/>
                          </a:solidFill>
                          <a:highlight>
                            <a:srgbClr val="1D2C47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FIX</a:t>
                      </a:r>
                      <a:endParaRPr lang="en-US" sz="11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1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esc() FE vô hiệu (entity decode)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1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unicode escape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1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EF4FB"/>
                          </a:solidFill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server crash: biến ngoài scope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1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EF4FB"/>
                          </a:solidFill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sửa catch block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1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SQL 3 placeholder trùng $1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1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đánh số riêng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1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EF4FB"/>
                          </a:solidFill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test không idempotent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13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EF4FB"/>
                          </a:solidFill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run suffix</a:t>
                      </a:r>
                      <a:endParaRPr lang="en-US" sz="12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47638" marR="147638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506830" y="4976813"/>
            <a:ext cx="523875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10 / 15</a:t>
            </a:r>
            <a:endParaRPr lang="en-US" sz="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758" y="342007"/>
            <a:ext cx="7177088" cy="485775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870" y="343867"/>
            <a:ext cx="7910512" cy="442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spcAft>
                <a:spcPts val="1114"/>
              </a:spcAft>
              <a:buNone/>
            </a:pPr>
            <a:r>
              <a:rPr lang="en-US" sz="24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DEPLOY — PREVIEW &amp; LIVE FEEDBACK LOOP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59719" y="986284"/>
            <a:ext cx="1752600" cy="561975"/>
          </a:xfrm>
          <a:prstGeom prst="roundRect">
            <a:avLst>
              <a:gd name="adj" fmla="val 13789"/>
            </a:avLst>
          </a:prstGeom>
          <a:solidFill>
            <a:srgbClr val="123252"/>
          </a:solidFill>
          <a:ln w="9525">
            <a:solidFill>
              <a:srgbClr val="6EC3F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00" b="1" spc="38" kern="0" dirty="0">
                <a:solidFill>
                  <a:srgbClr val="BFE3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CADDY :5173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97672" y="1095821"/>
            <a:ext cx="190500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6EC3F5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75273" y="986284"/>
            <a:ext cx="2028825" cy="561975"/>
          </a:xfrm>
          <a:prstGeom prst="roundRect">
            <a:avLst>
              <a:gd name="adj" fmla="val 13789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00" b="1" spc="38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BACKEND :3000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91200" y="1095821"/>
            <a:ext cx="190500" cy="3429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6EC3F5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68430" y="986284"/>
            <a:ext cx="1514475" cy="561975"/>
          </a:xfrm>
          <a:prstGeom prst="roundRect">
            <a:avLst>
              <a:gd name="adj" fmla="val 13789"/>
            </a:avLst>
          </a:prstGeom>
          <a:solidFill>
            <a:srgbClr val="0B3325"/>
          </a:solidFill>
          <a:ln w="9525">
            <a:solidFill>
              <a:srgbClr val="22C55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00" b="1" spc="38" kern="0" dirty="0">
                <a:solidFill>
                  <a:srgbClr val="A7F3D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PG · REDIS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8969" y="1633984"/>
            <a:ext cx="2185988" cy="561975"/>
          </a:xfrm>
          <a:prstGeom prst="roundRect">
            <a:avLst>
              <a:gd name="adj" fmla="val 13789"/>
            </a:avLst>
          </a:prstGeom>
          <a:solidFill>
            <a:srgbClr val="16233A"/>
          </a:solidFill>
          <a:ln w="9525">
            <a:solidFill>
              <a:srgbClr val="6EC3F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00" b="1" spc="38" kern="0" dirty="0">
                <a:solidFill>
                  <a:srgbClr val="EEF4F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MIRROR WORKER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6830" y="4976813"/>
            <a:ext cx="523875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11 / 15</a:t>
            </a:r>
            <a:endParaRPr lang="en-US" sz="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870" y="343867"/>
            <a:ext cx="7910512" cy="44291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300734"/>
            <a:ext cx="82296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3350" indent="-133350">
              <a:lnSpc>
                <a:spcPts val="2175"/>
              </a:lnSpc>
              <a:spcBef>
                <a:spcPts val="1500"/>
              </a:spcBef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F9731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​</a:t>
            </a:r>
            <a:pPr algn="l" indent="0" marL="0">
              <a:lnSpc>
                <a:spcPts val="2175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User mở browser → 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chụp màn hình lỗi</a:t>
            </a:r>
            <a:pPr algn="l" indent="0" marL="0">
              <a:lnSpc>
                <a:spcPts val="2175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→ fix trong phút</a:t>
            </a:r>
            <a:endParaRPr lang="en-US" sz="1500" dirty="0"/>
          </a:p>
          <a:p>
            <a:pPr algn="l" marL="133350" indent="-133350">
              <a:lnSpc>
                <a:spcPts val="2175"/>
              </a:lnSpc>
              <a:spcBef>
                <a:spcPts val="1500"/>
              </a:spcBef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F9731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​</a:t>
            </a:r>
            <a:pPr algn="l" indent="0" marL="0">
              <a:lnSpc>
                <a:spcPts val="2175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404 /admin → </a:t>
            </a:r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4F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handle_path</a:t>
            </a:r>
            <a:pPr algn="l" indent="0" marL="0">
              <a:lnSpc>
                <a:spcPts val="2175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· modal trống → CSS </a:t>
            </a:r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EEF4F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[hidden]</a:t>
            </a:r>
            <a:endParaRPr lang="en-US" sz="1500" dirty="0"/>
          </a:p>
          <a:p>
            <a:pPr algn="l" marL="133350" indent="-133350">
              <a:lnSpc>
                <a:spcPts val="2175"/>
              </a:lnSpc>
              <a:spcBef>
                <a:spcPts val="1500"/>
              </a:spcBef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F9731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​</a:t>
            </a:r>
            <a:pPr algn="l" indent="0" marL="0">
              <a:lnSpc>
                <a:spcPts val="2175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Key viewer dính → tách storage riêng · verify trả role</a:t>
            </a:r>
            <a:endParaRPr lang="en-US" sz="1500" dirty="0"/>
          </a:p>
          <a:p>
            <a:pPr algn="l" marL="133350" indent="-133350">
              <a:lnSpc>
                <a:spcPts val="2175"/>
              </a:lnSpc>
              <a:spcBef>
                <a:spcPts val="1500"/>
              </a:spcBef>
              <a:spcAft>
                <a:spcPts val="1500"/>
              </a:spcAft>
              <a:buSzPct val="100000"/>
              <a:buChar char="•"/>
            </a:pPr>
            <a:r>
              <a:rPr lang="en-US" sz="1500" b="1" dirty="0">
                <a:solidFill>
                  <a:srgbClr val="F97316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​</a:t>
            </a:r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Change request bằng hội thoại:</a:t>
            </a:r>
            <a:pPr algn="l" indent="0" marL="0">
              <a:lnSpc>
                <a:spcPts val="2175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“tôi là admin nên được approve” → đổi rule, test lại 36/36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126" y="342007"/>
            <a:ext cx="5619750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Aft>
                <a:spcPts val="1215"/>
              </a:spcAft>
              <a:buNone/>
            </a:pPr>
            <a:r>
              <a:rPr lang="en-US" sz="27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KẾT QUẢ — CON SỐ BIẾT NÓI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33996"/>
            <a:ext cx="1900238" cy="1504950"/>
          </a:xfrm>
          <a:prstGeom prst="roundRect">
            <a:avLst>
              <a:gd name="adj" fmla="val 26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7713" y="1405012"/>
            <a:ext cx="1319213" cy="7143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25"/>
              </a:lnSpc>
              <a:buNone/>
            </a:pPr>
            <a:r>
              <a:rPr lang="en-US" sz="5600" b="1" dirty="0">
                <a:solidFill>
                  <a:srgbClr val="F9731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47713" y="2159571"/>
            <a:ext cx="1319213" cy="2095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31"/>
              </a:lnSpc>
              <a:spcBef>
                <a:spcPts val="326"/>
              </a:spcBef>
              <a:buNone/>
            </a:pPr>
            <a:r>
              <a:rPr lang="en-US" sz="10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docs SDLC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6988" y="1133996"/>
            <a:ext cx="1900238" cy="1504950"/>
          </a:xfrm>
          <a:prstGeom prst="roundRect">
            <a:avLst>
              <a:gd name="adj" fmla="val 26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7500" y="1405012"/>
            <a:ext cx="1319213" cy="7143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25"/>
              </a:lnSpc>
              <a:buNone/>
            </a:pPr>
            <a:r>
              <a:rPr lang="en-US" sz="5600" b="1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857500" y="2159571"/>
            <a:ext cx="1319213" cy="2095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31"/>
              </a:lnSpc>
              <a:spcBef>
                <a:spcPts val="326"/>
              </a:spcBef>
              <a:buNone/>
            </a:pPr>
            <a:r>
              <a:rPr lang="en-US" sz="10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 · 9 NFR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76775" y="1133996"/>
            <a:ext cx="1900238" cy="1504950"/>
          </a:xfrm>
          <a:prstGeom prst="roundRect">
            <a:avLst>
              <a:gd name="adj" fmla="val 26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7287" y="1405012"/>
            <a:ext cx="1319213" cy="7143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25"/>
              </a:lnSpc>
              <a:buNone/>
            </a:pPr>
            <a:r>
              <a:rPr lang="en-US" sz="5600" b="1" dirty="0">
                <a:solidFill>
                  <a:srgbClr val="F9731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19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967287" y="2159571"/>
            <a:ext cx="1319213" cy="2095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31"/>
              </a:lnSpc>
              <a:spcBef>
                <a:spcPts val="326"/>
              </a:spcBef>
              <a:buNone/>
            </a:pPr>
            <a:r>
              <a:rPr lang="en-US" sz="10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user stories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86563" y="1133996"/>
            <a:ext cx="1900238" cy="1504950"/>
          </a:xfrm>
          <a:prstGeom prst="roundRect">
            <a:avLst>
              <a:gd name="adj" fmla="val 26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77075" y="1405012"/>
            <a:ext cx="1319213" cy="7143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25"/>
              </a:lnSpc>
              <a:buNone/>
            </a:pPr>
            <a:r>
              <a:rPr lang="en-US" sz="5600" b="1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7077075" y="2159571"/>
            <a:ext cx="1319213" cy="2095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31"/>
              </a:lnSpc>
              <a:spcBef>
                <a:spcPts val="326"/>
              </a:spcBef>
              <a:buNone/>
            </a:pPr>
            <a:r>
              <a:rPr lang="en-US" sz="10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màn hình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49389"/>
            <a:ext cx="1900238" cy="1504950"/>
          </a:xfrm>
          <a:prstGeom prst="roundRect">
            <a:avLst>
              <a:gd name="adj" fmla="val 26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13" y="3120405"/>
            <a:ext cx="1319213" cy="7143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25"/>
              </a:lnSpc>
              <a:buNone/>
            </a:pPr>
            <a:r>
              <a:rPr lang="en-US" sz="5600" b="1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17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747713" y="3874963"/>
            <a:ext cx="1319213" cy="2095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31"/>
              </a:lnSpc>
              <a:spcBef>
                <a:spcPts val="326"/>
              </a:spcBef>
              <a:buNone/>
            </a:pPr>
            <a:r>
              <a:rPr lang="en-US" sz="10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6988" y="2849389"/>
            <a:ext cx="1900238" cy="1504950"/>
          </a:xfrm>
          <a:prstGeom prst="roundRect">
            <a:avLst>
              <a:gd name="adj" fmla="val 26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7500" y="3120405"/>
            <a:ext cx="1319213" cy="7143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25"/>
              </a:lnSpc>
              <a:buNone/>
            </a:pPr>
            <a:r>
              <a:rPr lang="en-US" sz="5600" b="1" dirty="0">
                <a:solidFill>
                  <a:srgbClr val="F9731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2857500" y="3874963"/>
            <a:ext cx="1319213" cy="2095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31"/>
              </a:lnSpc>
              <a:spcBef>
                <a:spcPts val="326"/>
              </a:spcBef>
              <a:buNone/>
            </a:pPr>
            <a:r>
              <a:rPr lang="en-US" sz="10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bảng DB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76775" y="2849389"/>
            <a:ext cx="1900238" cy="1504950"/>
          </a:xfrm>
          <a:prstGeom prst="roundRect">
            <a:avLst>
              <a:gd name="adj" fmla="val 26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7287" y="3120405"/>
            <a:ext cx="1319213" cy="7143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25"/>
              </a:lnSpc>
              <a:buNone/>
            </a:pPr>
            <a:r>
              <a:rPr lang="en-US" sz="5600" b="1" dirty="0">
                <a:solidFill>
                  <a:srgbClr val="F9731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36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4967287" y="3874963"/>
            <a:ext cx="1319213" cy="2095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31"/>
              </a:lnSpc>
              <a:spcBef>
                <a:spcPts val="326"/>
              </a:spcBef>
              <a:buNone/>
            </a:pPr>
            <a:r>
              <a:rPr lang="en-US" sz="10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e2e pass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86563" y="2849389"/>
            <a:ext cx="1900238" cy="1504950"/>
          </a:xfrm>
          <a:prstGeom prst="roundRect">
            <a:avLst>
              <a:gd name="adj" fmla="val 2692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7075" y="3120405"/>
            <a:ext cx="1319213" cy="7143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25"/>
              </a:lnSpc>
              <a:buNone/>
            </a:pPr>
            <a:r>
              <a:rPr lang="en-US" sz="5600" b="1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8+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7077075" y="3874963"/>
            <a:ext cx="1319213" cy="2095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31"/>
              </a:lnSpc>
              <a:spcBef>
                <a:spcPts val="326"/>
              </a:spcBef>
              <a:buNone/>
            </a:pPr>
            <a:r>
              <a:rPr lang="en-US" sz="10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bug đã fix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6830" y="4976813"/>
            <a:ext cx="523875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12 / 15</a:t>
            </a:r>
            <a:endParaRPr lang="en-US" sz="5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126" y="342007"/>
            <a:ext cx="5619750" cy="485775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870" y="342751"/>
            <a:ext cx="6310312" cy="4191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4"/>
              </a:lnSpc>
              <a:spcAft>
                <a:spcPts val="1046"/>
              </a:spcAft>
              <a:buNone/>
            </a:pPr>
            <a:r>
              <a:rPr lang="en-US" sz="23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BPR — AS-IS VS TO-BE VỚI VIBEFLOW</a:t>
            </a:r>
            <a:endParaRPr lang="en-US" sz="2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50565"/>
          <a:ext cx="8229600" cy="914400"/>
        </p:xfrm>
        <a:graphic>
          <a:graphicData uri="http://schemas.openxmlformats.org/drawingml/2006/table">
            <a:tbl>
              <a:tblPr/>
              <a:tblGrid>
                <a:gridCol w="1100361"/>
                <a:gridCol w="3010644"/>
                <a:gridCol w="41185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501"/>
                        </a:lnSpc>
                        <a:buNone/>
                      </a:pPr>
                      <a:r>
                        <a:rPr lang="en-US" sz="1000" b="1" spc="38" kern="0" dirty="0">
                          <a:solidFill>
                            <a:srgbClr val="BFE3FB"/>
                          </a:solidFill>
                          <a:highlight>
                            <a:srgbClr val="1D2C47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PHA</a:t>
                      </a:r>
                      <a:endParaRPr lang="en-US" sz="10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501"/>
                        </a:lnSpc>
                        <a:buNone/>
                      </a:pPr>
                      <a:r>
                        <a:rPr lang="en-US" sz="1000" b="1" spc="38" kern="0" dirty="0">
                          <a:solidFill>
                            <a:srgbClr val="BFE3FB"/>
                          </a:solidFill>
                          <a:highlight>
                            <a:srgbClr val="1D2C47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AS-IS (TRUYỀN THỐNG)</a:t>
                      </a:r>
                      <a:endParaRPr lang="en-US" sz="10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501"/>
                        </a:lnSpc>
                        <a:buNone/>
                      </a:pPr>
                      <a:r>
                        <a:rPr lang="en-US" sz="1000" b="1" spc="38" kern="0" dirty="0">
                          <a:solidFill>
                            <a:srgbClr val="BFE3FB"/>
                          </a:solidFill>
                          <a:highlight>
                            <a:srgbClr val="1D2C47"/>
                          </a:highlight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TO-BE (VIBEFLOW)</a:t>
                      </a:r>
                      <a:endParaRPr lang="en-US" sz="10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2C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Yêu cầu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Họp nhiều vòng, tài liệu phân tán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1 câu → BRD + options trong phiên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Thiết kế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Wireframe tay, chờ review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Prototype + stories + ADR liền mạch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Phát triển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Dev đọc spec, tự suy diễn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Dev agent bám đúng design, reuse code graph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Kiểm thử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Test sau code, bug muộn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e2e chạy thật mỗi vòng, bug ra ngay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Feedback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Email / ticket, vòng dài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631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EF4FB"/>
                          </a:solidFill>
                          <a:highlight>
                            <a:srgbClr val="121E33"/>
                          </a:highlight>
                          <a:latin typeface="system-ui" pitchFamily="34" charset="0"/>
                          <a:ea typeface="system-ui" pitchFamily="34" charset="-122"/>
                          <a:cs typeface="system-ui" pitchFamily="34" charset="-120"/>
                        </a:rPr>
                        <a:t>Screenshot → fix trong phút</a:t>
                      </a:r>
                      <a:endParaRPr lang="en-US" sz="1000" dirty="0">
                        <a:latin typeface="system-ui" charset="0"/>
                        <a:ea typeface="system-ui" charset="0"/>
                        <a:cs typeface="system-ui" charset="0"/>
                      </a:endParaRPr>
                    </a:p>
                  </a:txBody>
                  <a:tcPr marL="138112" marR="138112" marT="119063" marB="1190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763" cap="flat" cmpd="sng" algn="ctr">
                      <a:solidFill>
                        <a:srgbClr val="2A3B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E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87887"/>
            <a:ext cx="8229600" cy="609600"/>
          </a:xfrm>
          <a:prstGeom prst="roundRect">
            <a:avLst>
              <a:gd name="adj" fmla="val 11719"/>
            </a:avLst>
          </a:prstGeom>
          <a:solidFill>
            <a:srgbClr val="1A2A44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Một mạch hội thoại = một mạch SDLC. Không mất ngữ cảnh khi chuyển vai trò.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06830" y="4976813"/>
            <a:ext cx="523875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13 / 15</a:t>
            </a:r>
            <a:endParaRPr lang="en-US" sz="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870" y="342751"/>
            <a:ext cx="6310312" cy="4191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687887"/>
            <a:ext cx="8229600" cy="6096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Text 1"/>
          <p:cNvSpPr/>
          <p:nvPr/>
        </p:nvSpPr>
        <p:spPr>
          <a:xfrm>
            <a:off x="458130" y="343867"/>
            <a:ext cx="3590925" cy="442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spcAft>
                <a:spcPts val="1114"/>
              </a:spcAft>
              <a:buNone/>
            </a:pPr>
            <a:r>
              <a:rPr lang="en-US" sz="24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BÀI HỌC MANG VỀ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4001"/>
            <a:ext cx="1914525" cy="2590800"/>
          </a:xfrm>
          <a:prstGeom prst="roundRect">
            <a:avLst>
              <a:gd name="adj" fmla="val 1663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8663" y="1305371"/>
            <a:ext cx="1371600" cy="5857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6"/>
              </a:lnSpc>
              <a:spcAft>
                <a:spcPts val="692"/>
              </a:spcAft>
              <a:buNone/>
            </a:pPr>
            <a:r>
              <a:rPr lang="en-US" sz="15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 · CHỐT Ở GATE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8663" y="1978968"/>
            <a:ext cx="1371600" cy="8001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Quyết định sản phẩm phải của con người — tại từng gate, đừng để trôi.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2225" y="1054001"/>
            <a:ext cx="1914525" cy="2590800"/>
          </a:xfrm>
          <a:prstGeom prst="roundRect">
            <a:avLst>
              <a:gd name="adj" fmla="val 1663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3687" y="1304181"/>
            <a:ext cx="1371600" cy="88106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6"/>
              </a:lnSpc>
              <a:spcAft>
                <a:spcPts val="692"/>
              </a:spcAft>
              <a:buNone/>
            </a:pPr>
            <a:r>
              <a:rPr lang="en-US" sz="15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 · TÍCH HỢP THẬT SỚM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3687" y="2271861"/>
            <a:ext cx="1371600" cy="6000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Postman / URL thật vào cuộc → thiết kế không bay bổng.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7250" y="1054001"/>
            <a:ext cx="1914525" cy="2590800"/>
          </a:xfrm>
          <a:prstGeom prst="roundRect">
            <a:avLst>
              <a:gd name="adj" fmla="val 1663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8712" y="1305371"/>
            <a:ext cx="1371600" cy="58578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6"/>
              </a:lnSpc>
              <a:spcAft>
                <a:spcPts val="692"/>
              </a:spcAft>
              <a:buNone/>
            </a:pPr>
            <a:r>
              <a:rPr lang="en-US" sz="15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 · CHẠY ĐỂ TEST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8712" y="1978968"/>
            <a:ext cx="1371600" cy="8001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Test không chạy thật = chưa test. Bug thật rẻ hơn bug prod.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2275" y="1054001"/>
            <a:ext cx="1914525" cy="2590800"/>
          </a:xfrm>
          <a:prstGeom prst="roundRect">
            <a:avLst>
              <a:gd name="adj" fmla="val 1663"/>
            </a:avLst>
          </a:prstGeom>
          <a:solidFill>
            <a:srgbClr val="16233A"/>
          </a:solidFill>
          <a:ln w="4763">
            <a:solidFill>
              <a:srgbClr val="2A3B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3738" y="1305371"/>
            <a:ext cx="1371600" cy="11715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6"/>
              </a:lnSpc>
              <a:spcAft>
                <a:spcPts val="692"/>
              </a:spcAft>
              <a:buNone/>
            </a:pPr>
            <a:r>
              <a:rPr lang="en-US" sz="1500" b="1" spc="19" kern="0" dirty="0">
                <a:solidFill>
                  <a:srgbClr val="6EC3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 · PREVIEW + SCREENSHOT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3738" y="2564755"/>
            <a:ext cx="1371600" cy="80010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spcAft>
                <a:spcPts val="225"/>
              </a:spcAft>
              <a:buNone/>
            </a:pPr>
            <a:r>
              <a:rPr lang="en-US" sz="1000" dirty="0">
                <a:solidFill>
                  <a:srgbClr val="93A7C4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Vòng feedback nhanh nhất: user bấm, chụp, gửi — agent fix.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741093"/>
            <a:ext cx="8229600" cy="900113"/>
          </a:xfrm>
          <a:prstGeom prst="roundRect">
            <a:avLst>
              <a:gd name="adj" fmla="val 5375"/>
            </a:avLst>
          </a:prstGeom>
          <a:solidFill>
            <a:srgbClr val="241A10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9"/>
              </a:lnSpc>
              <a:spcBef>
                <a:spcPts val="750"/>
              </a:spcBef>
              <a:buNone/>
            </a:pPr>
            <a:r>
              <a:rPr lang="en-US" sz="13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Áp dụng cho sản phẩm của bạn: bắt đầu bằng </a:t>
            </a:r>
            <a:pPr algn="l" indent="0" marL="0">
              <a:lnSpc>
                <a:spcPts val="1969"/>
              </a:lnSpc>
              <a:buNone/>
            </a:pPr>
            <a:r>
              <a:rPr lang="en-US" sz="1300" b="1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một câu yêu cầu</a:t>
            </a:r>
            <a:pPr algn="l" indent="0" marL="0">
              <a:lnSpc>
                <a:spcPts val="1969"/>
              </a:lnSpc>
              <a:spcBef>
                <a:spcPts val="750"/>
              </a:spcBef>
              <a:buNone/>
            </a:pPr>
            <a:r>
              <a:rPr lang="en-US" sz="1300" dirty="0">
                <a:solidFill>
                  <a:srgbClr val="EEF4F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— phần còn lại là kỷ luật SDLC.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6830" y="4976813"/>
            <a:ext cx="523875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3A7C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14 / 15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130" y="343867"/>
            <a:ext cx="3590925" cy="442913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3741093"/>
            <a:ext cx="8229600" cy="900113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C30"/>
          </a:solidFill>
          <a:ln/>
        </p:spPr>
      </p:sp>
      <p:sp>
        <p:nvSpPr>
          <p:cNvPr id="3" name="Text 1"/>
          <p:cNvSpPr/>
          <p:nvPr/>
        </p:nvSpPr>
        <p:spPr>
          <a:xfrm>
            <a:off x="3100388" y="1966838"/>
            <a:ext cx="2943225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00" spc="75" kern="0" dirty="0">
                <a:solidFill>
                  <a:srgbClr val="6EC3F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VIBEFLOW IN ACTION · FPT DEDICATED INFERENCE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428875" y="2185988"/>
            <a:ext cx="4286250" cy="49053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864"/>
              </a:lnSpc>
              <a:buNone/>
            </a:pPr>
            <a:r>
              <a:rPr lang="en-US" sz="3400" b="1" spc="19" kern="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LAUNCH </a:t>
            </a:r>
            <a:pPr algn="ctr" indent="0" marL="0">
              <a:lnSpc>
                <a:spcPts val="3864"/>
              </a:lnSpc>
              <a:buNone/>
            </a:pPr>
            <a:r>
              <a:rPr lang="en-US" sz="3400" b="1" spc="19" kern="0" dirty="0">
                <a:solidFill>
                  <a:srgbClr val="F9731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BY VIBE.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410075" y="2790899"/>
            <a:ext cx="323850" cy="2143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88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9FB3CC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Q&amp;A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4733925"/>
            <a:ext cx="9144000" cy="1428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00" spc="75" kern="0" dirty="0">
                <a:solidFill>
                  <a:srgbClr val="5F76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vibeflow.fptconsulting.co.jp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506830" y="4976813"/>
            <a:ext cx="523875" cy="1000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5F76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Slide 15 / 15</a:t>
            </a:r>
            <a:endParaRPr lang="en-US" sz="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400" y="104775"/>
            <a:ext cx="457200" cy="2823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2026-08-27T10:13:14Z</dcterms:created>
  <dcterms:modified xsi:type="dcterms:W3CDTF">2026-08-27T10:13:14Z</dcterms:modified>
</cp:coreProperties>
</file>